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Fabric already detects and scores data quality; GoldenRecord is the layer that fixes and resolves it, natively on Fabric: notebooks with AI Functions on top of materialized lake view constraints in OneLake, stewards approving fixes by root cause in Power BI, Activator alerting when a source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defect we see in every enterprise: duplicates, invalid values and inconsistent formats. None of them is caught today until someone questions a number in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Data-quality fixes usually fail for five reasons: detection without remediation, fixes that come back on the next load, record-by-record review that cannot scale, dedup without survivorship, and LLMs on every row that nobody can audit. GoldenRecord is designed around those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"doesn't Fabric already do this?" before a judge asks. The native layer detects and scores; we use it and earn Fabric credit for it. Our build is the four things the platform does not give you: quarantine with reasons, AI fixes behind a guardrail, golden-record entity resolution, and pattern-level stewardship.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the guardrail loop. The golden record is the supporting proof: entity resolution is where the fixes show up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Data Factory lands three ERP extracts. Bronze stores personal data only as tokens and masked values; raw values go to a vault only the payments custodian can read. Silver: AI Functions see each distinct unknown value once (Bangalore, ENGG, RS), the answer is validated and versioned, and from then on standardization is a lookup. Materialized lake view constraints detect; our quarantine view keeps every dropped row with its reason. Gold resolves vendors into golden records behind the guardrail. Certified spend goes to Power BI; everything else becomes root-cause patterns that stewards approve with translytical task flows. Approvals become versioned rules and apply to every record from the next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"Bangalore to Bengaluru" is learned once and reused deterministically. The LLM never touches individual records, never has the last word on a merge, and every answer it gave is cached, validated and versioned. Costs scale with variety, not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ask what happens to the other 24,997 records. Every decision is a versioned rule-library item: it fixes the records in the pattern now, every future record with the same root cause, and it can be retired. Measured on our seeded data: 58 decisions repaired 1,185 records and took duplicate-vendor resolution from 1,549 to 1,727 of 1,743.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scans Bronze, Silver and Gold for any raw value from the vault and finds none. Purview is optional: it needs its own account and billing, so the solution does not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Native constraints catch the same bad rows, which is why we use them, but they repair nothing, merge no duplicates and give no reason per row. The full system, after 58 steward decisions, repairs 1,185 records, resolves 1,727 of 1,743 duplicated vendors and puts 99.1% of Gold spend on the right vendor, with zero LLM calls on a rerun. Be honest about the notes: the steward is simulated, the data is synthetic, and LLM-per-row accuracy is measured in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edge is a point of view backed by numbers: fixes fail when they are not turned into rules, when merges cannot be explained or undone, and when review happens record by record. Replace the gold line with one true sentence from the team's experience, for example a vendor master where the same counterparty sat under several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has a passing test (tests/test_agents.py): the wrong-rule scenario, the false-merge scenario and the thousands-of-issues scenario. Invite the judge to type a bad rule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Databricks, no Great Expectations, no Splink, no Presidio, no Streamlit in the solution. The Docker harness exists because Fabric capacity may arrive late; it is not part of what we are pitching.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5 originally named Purview DSPM for AI. We meet the intent with OneLake security and tokenization, and add Purview labels, lineage and the DSPM screenshot if the tenant has Purview.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to the second. The bad batch for the Activator alert is staged in advance. If Fabric fails, the offline dev harness runs the same agents for a backup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members: Vinod leads as product owner and quality architect; the five AI engineers cover the Fabric build, AI Functions and matching, materialized lake views, Power BI with translytical task flows, and testing the break-it scenarios. Add one line of relevant experience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tested core, agents, rule library, pattern queue, PII protection and ablation already exist. The two weeks go into running them natively in Fabric and building the Power BI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pitch and open for questions. Expect the three break-it questions (wrong rule, false merge, 25K issues) and "doesn't Fabric already do this?": point back to the Built on Fabric and Measured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B84A"/>
                </a:solidFill>
                <a:latin typeface="Arial" pitchFamily="34" charset="0"/>
                <a:ea typeface="Arial" pitchFamily="34" charset="-122"/>
                <a:cs typeface="Arial" pitchFamily="34" charset="-120"/>
              </a:rPr>
              <a:t>HACKATHON · TRACK 02 · GENAI DATA HARMONIZATION &amp; QUALITY GUARDRAILS</a:t>
            </a:r>
            <a:endParaRPr lang="en-US" sz="1200" dirty="0"/>
          </a:p>
        </p:txBody>
      </p:sp>
      <p:sp>
        <p:nvSpPr>
          <p:cNvPr id="3" name="Text 1"/>
          <p:cNvSpPr/>
          <p:nvPr>
            <p:ph type="title"/>
          </p:nvPr>
        </p:nvSpPr>
        <p:spPr>
          <a:xfrm>
            <a:off x="812800" y="2324199"/>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6F4EE"/>
                </a:solidFill>
                <a:latin typeface="Arial" pitchFamily="34" charset="0"/>
                <a:ea typeface="Arial" pitchFamily="34" charset="-122"/>
                <a:cs typeface="Arial" pitchFamily="34" charset="-120"/>
              </a:rPr>
              <a:t>Golden</a:t>
            </a:r>
            <a:r>
              <a:rPr lang="en-US" sz="8000" b="1" i="0" spc="-200" kern="0" dirty="0">
                <a:solidFill>
                  <a:srgbClr val="E8B84A"/>
                </a:solidFill>
                <a:latin typeface="Arial" pitchFamily="34" charset="0"/>
                <a:ea typeface="Arial" pitchFamily="34" charset="-122"/>
                <a:cs typeface="Arial" pitchFamily="34" charset="-120"/>
              </a:rPr>
              <a:t>Record</a:t>
            </a:r>
            <a:endParaRPr lang="en-US" sz="8000" dirty="0"/>
          </a:p>
        </p:txBody>
      </p:sp>
      <p:sp>
        <p:nvSpPr>
          <p:cNvPr id="4" name="Text 2"/>
          <p:cNvSpPr/>
          <p:nvPr/>
        </p:nvSpPr>
        <p:spPr>
          <a:xfrm>
            <a:off x="812800" y="3543399"/>
            <a:ext cx="78486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DE"/>
                </a:solidFill>
                <a:latin typeface="Arial" pitchFamily="34" charset="0"/>
                <a:ea typeface="Arial" pitchFamily="34" charset="-122"/>
                <a:cs typeface="Arial" pitchFamily="34" charset="-120"/>
              </a:rPr>
              <a:t>Fabric tells you your data is bad. GoldenRecord fixes it: safely, by root cause, with an audit trail.</a:t>
            </a:r>
            <a:endParaRPr lang="en-US" sz="2200" dirty="0"/>
          </a:p>
        </p:txBody>
      </p:sp>
      <p:sp>
        <p:nvSpPr>
          <p:cNvPr id="5" name="Text 3"/>
          <p:cNvSpPr/>
          <p:nvPr/>
        </p:nvSpPr>
        <p:spPr>
          <a:xfrm>
            <a:off x="812800" y="55677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84A"/>
                </a:solidFill>
                <a:latin typeface="Arial" pitchFamily="34" charset="0"/>
                <a:ea typeface="Arial" pitchFamily="34" charset="-122"/>
                <a:cs typeface="Arial" pitchFamily="34" charset="-120"/>
              </a:rPr>
              <a:t>Team GoldenRecord · [Event date]</a:t>
            </a:r>
            <a:endParaRPr lang="en-US" sz="12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Vinod Atmakur · Anand Topu · Yogesh Godwade · Koushik Das · Ravi Chander Kanikala · Dilip Divakaran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27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Bad data reaches the report before anyone notices</a:t>
            </a:r>
            <a:endParaRPr lang="en-US" sz="3600" dirty="0"/>
          </a:p>
        </p:txBody>
      </p:sp>
      <p:sp>
        <p:nvSpPr>
          <p:cNvPr id="4" name="Shape 2"/>
          <p:cNvSpPr/>
          <p:nvPr/>
        </p:nvSpPr>
        <p:spPr>
          <a:xfrm>
            <a:off x="815975" y="2492177"/>
            <a:ext cx="3380284" cy="2170311"/>
          </a:xfrm>
          <a:prstGeom prst="roundRect">
            <a:avLst>
              <a:gd name="adj" fmla="val 4535"/>
            </a:avLst>
          </a:prstGeom>
          <a:solidFill>
            <a:srgbClr val="FDFCF9"/>
          </a:solidFill>
          <a:ln w="6350">
            <a:solidFill>
              <a:srgbClr val="D9D4C7"/>
            </a:solidFill>
            <a:prstDash val="solid"/>
          </a:ln>
        </p:spPr>
      </p:sp>
      <p:pic>
        <p:nvPicPr>
          <p:cNvPr id="5" name="Image 0" descr="Users">    </p:cNvPr>
          <p:cNvPicPr>
            <a:picLocks noChangeAspect="1"/>
          </p:cNvPicPr>
          <p:nvPr/>
        </p:nvPicPr>
        <p:blipFill>
          <a:blip r:embed="rId1"/>
          <a:srcRect l="0" r="0" t="0" b="0"/>
          <a:stretch/>
        </p:blipFill>
        <p:spPr>
          <a:xfrm>
            <a:off x="1073150" y="2749352"/>
            <a:ext cx="355600" cy="355600"/>
          </a:xfrm>
          <a:prstGeom prst="rect">
            <a:avLst/>
          </a:prstGeom>
        </p:spPr>
      </p:pic>
      <p:sp>
        <p:nvSpPr>
          <p:cNvPr id="6" name="Text 3"/>
          <p:cNvSpPr/>
          <p:nvPr/>
        </p:nvSpPr>
        <p:spPr>
          <a:xfrm>
            <a:off x="1073150" y="3206552"/>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Duplicates</a:t>
            </a:r>
            <a:endParaRPr lang="en-US" sz="1600" dirty="0"/>
          </a:p>
        </p:txBody>
      </p:sp>
      <p:sp>
        <p:nvSpPr>
          <p:cNvPr id="7" name="Text 4"/>
          <p:cNvSpPr/>
          <p:nvPr/>
        </p:nvSpPr>
        <p:spPr>
          <a:xfrm>
            <a:off x="1073150" y="3551932"/>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3"/>
                </a:solidFill>
                <a:latin typeface="Arial" pitchFamily="34" charset="0"/>
                <a:ea typeface="Arial" pitchFamily="34" charset="-122"/>
                <a:cs typeface="Arial" pitchFamily="34" charset="-120"/>
              </a:rPr>
              <a:t>“IBM Corp” and “International Business Machines” counted as two vendors across ERPs.</a:t>
            </a:r>
            <a:endParaRPr lang="en-US" sz="1600" dirty="0"/>
          </a:p>
        </p:txBody>
      </p:sp>
      <p:sp>
        <p:nvSpPr>
          <p:cNvPr id="8" name="Shape 5"/>
          <p:cNvSpPr/>
          <p:nvPr/>
        </p:nvSpPr>
        <p:spPr>
          <a:xfrm>
            <a:off x="4405809" y="2492177"/>
            <a:ext cx="3380383" cy="2170311"/>
          </a:xfrm>
          <a:prstGeom prst="roundRect">
            <a:avLst>
              <a:gd name="adj" fmla="val 4535"/>
            </a:avLst>
          </a:prstGeom>
          <a:solidFill>
            <a:srgbClr val="FDFCF9"/>
          </a:solidFill>
          <a:ln w="6350">
            <a:solidFill>
              <a:srgbClr val="D9D4C7"/>
            </a:solidFill>
            <a:prstDash val="solid"/>
          </a:ln>
        </p:spPr>
      </p:sp>
      <p:pic>
        <p:nvPicPr>
          <p:cNvPr id="9" name="Image 1" descr="Warning">    </p:cNvPr>
          <p:cNvPicPr>
            <a:picLocks noChangeAspect="1"/>
          </p:cNvPicPr>
          <p:nvPr/>
        </p:nvPicPr>
        <p:blipFill>
          <a:blip r:embed="rId2"/>
          <a:srcRect l="0" r="0" t="0" b="0"/>
          <a:stretch/>
        </p:blipFill>
        <p:spPr>
          <a:xfrm>
            <a:off x="4662984" y="2749352"/>
            <a:ext cx="355600" cy="355600"/>
          </a:xfrm>
          <a:prstGeom prst="rect">
            <a:avLst/>
          </a:prstGeom>
        </p:spPr>
      </p:pic>
      <p:sp>
        <p:nvSpPr>
          <p:cNvPr id="10" name="Text 6"/>
          <p:cNvSpPr/>
          <p:nvPr/>
        </p:nvSpPr>
        <p:spPr>
          <a:xfrm>
            <a:off x="4662984" y="3206552"/>
            <a:ext cx="29520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Invalid values</a:t>
            </a:r>
            <a:endParaRPr lang="en-US" sz="1600" dirty="0"/>
          </a:p>
        </p:txBody>
      </p:sp>
      <p:sp>
        <p:nvSpPr>
          <p:cNvPr id="11" name="Text 7"/>
          <p:cNvSpPr/>
          <p:nvPr/>
        </p:nvSpPr>
        <p:spPr>
          <a:xfrm>
            <a:off x="4662984" y="3551932"/>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3"/>
                </a:solidFill>
                <a:latin typeface="Arial" pitchFamily="34" charset="0"/>
                <a:ea typeface="Arial" pitchFamily="34" charset="-122"/>
                <a:cs typeface="Arial" pitchFamily="34" charset="-120"/>
              </a:rPr>
              <a:t>A date of birth after the account open date. Amounts far out of range.</a:t>
            </a:r>
            <a:endParaRPr lang="en-US" sz="1600" dirty="0"/>
          </a:p>
        </p:txBody>
      </p:sp>
      <p:sp>
        <p:nvSpPr>
          <p:cNvPr id="12" name="Shape 8"/>
          <p:cNvSpPr/>
          <p:nvPr/>
        </p:nvSpPr>
        <p:spPr>
          <a:xfrm>
            <a:off x="7995741" y="2492177"/>
            <a:ext cx="3380284" cy="2170311"/>
          </a:xfrm>
          <a:prstGeom prst="roundRect">
            <a:avLst>
              <a:gd name="adj" fmla="val 4535"/>
            </a:avLst>
          </a:prstGeom>
          <a:solidFill>
            <a:srgbClr val="FDFCF9"/>
          </a:solidFill>
          <a:ln w="6350">
            <a:solidFill>
              <a:srgbClr val="D9D4C7"/>
            </a:solidFill>
            <a:prstDash val="solid"/>
          </a:ln>
        </p:spPr>
      </p:sp>
      <p:pic>
        <p:nvPicPr>
          <p:cNvPr id="13" name="Image 2" descr="Globe">    </p:cNvPr>
          <p:cNvPicPr>
            <a:picLocks noChangeAspect="1"/>
          </p:cNvPicPr>
          <p:nvPr/>
        </p:nvPicPr>
        <p:blipFill>
          <a:blip r:embed="rId3"/>
          <a:srcRect l="0" r="0" t="0" b="0"/>
          <a:stretch/>
        </p:blipFill>
        <p:spPr>
          <a:xfrm>
            <a:off x="8252916" y="2749352"/>
            <a:ext cx="355600" cy="355600"/>
          </a:xfrm>
          <a:prstGeom prst="rect">
            <a:avLst/>
          </a:prstGeom>
        </p:spPr>
      </p:pic>
      <p:sp>
        <p:nvSpPr>
          <p:cNvPr id="14" name="Text 9"/>
          <p:cNvSpPr/>
          <p:nvPr/>
        </p:nvSpPr>
        <p:spPr>
          <a:xfrm>
            <a:off x="8252916" y="3206552"/>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Inconsistent formats</a:t>
            </a:r>
            <a:endParaRPr lang="en-US" sz="1600" dirty="0"/>
          </a:p>
        </p:txBody>
      </p:sp>
      <p:sp>
        <p:nvSpPr>
          <p:cNvPr id="15" name="Text 10"/>
          <p:cNvSpPr/>
          <p:nvPr/>
        </p:nvSpPr>
        <p:spPr>
          <a:xfrm>
            <a:off x="8252916" y="3551932"/>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3"/>
                </a:solidFill>
                <a:latin typeface="Arial" pitchFamily="34" charset="0"/>
                <a:ea typeface="Arial" pitchFamily="34" charset="-122"/>
                <a:cs typeface="Arial" pitchFamily="34" charset="-120"/>
              </a:rPr>
              <a:t>“Bangalore” vs “Bengaluru”. Mixed date, currency and phone formats.</a:t>
            </a:r>
            <a:endParaRPr lang="en-US" sz="1600" dirty="0"/>
          </a:p>
        </p:txBody>
      </p:sp>
      <p:sp>
        <p:nvSpPr>
          <p:cNvPr id="16" name="Text 11"/>
          <p:cNvSpPr/>
          <p:nvPr/>
        </p:nvSpPr>
        <p:spPr>
          <a:xfrm>
            <a:off x="812800" y="502126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Arial" pitchFamily="34" charset="0"/>
                <a:ea typeface="Arial" pitchFamily="34" charset="-122"/>
                <a:cs typeface="Arial" pitchFamily="34" charset="-120"/>
              </a:rPr>
              <a:t>The result: leaders stop trusting the numbers, and every team rebuilds its own.</a:t>
            </a:r>
            <a:endParaRPr lang="en-US" sz="16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Arial" pitchFamily="34" charset="0"/>
                <a:ea typeface="Arial" pitchFamily="34" charset="-122"/>
                <a:cs typeface="Arial" pitchFamily="34" charset="-120"/>
              </a:rPr>
              <a:t>Track brief: “50,000+ records, half of them garbage.”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B84A"/>
        </a:solidFill>
      </p:bgPr>
    </p:bg>
    <p:spTree>
      <p:nvGrpSpPr>
        <p:cNvPr id="1" name=""/>
        <p:cNvGrpSpPr/>
        <p:nvPr/>
      </p:nvGrpSpPr>
      <p:grpSpPr>
        <a:xfrm>
          <a:off x="0" y="0"/>
          <a:ext cx="0" cy="0"/>
          <a:chOff x="0" y="0"/>
          <a:chExt cx="0" cy="0"/>
        </a:xfrm>
      </p:grpSpPr>
      <p:sp>
        <p:nvSpPr>
          <p:cNvPr id="2" name="Text 0"/>
          <p:cNvSpPr/>
          <p:nvPr/>
        </p:nvSpPr>
        <p:spPr>
          <a:xfrm>
            <a:off x="812800" y="190509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F1B2D"/>
                </a:solidFill>
                <a:latin typeface="Arial" pitchFamily="34" charset="0"/>
                <a:ea typeface="Arial" pitchFamily="34" charset="-122"/>
                <a:cs typeface="Arial" pitchFamily="34" charset="-120"/>
              </a:rPr>
              <a:t>OUR POINT OF VIEW</a:t>
            </a:r>
            <a:endParaRPr lang="en-US" sz="1200" dirty="0"/>
          </a:p>
        </p:txBody>
      </p:sp>
      <p:sp>
        <p:nvSpPr>
          <p:cNvPr id="3" name="Text 1"/>
          <p:cNvSpPr/>
          <p:nvPr>
            <p:ph type="title"/>
          </p:nvPr>
        </p:nvSpPr>
        <p:spPr>
          <a:xfrm>
            <a:off x="812800" y="23724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0F1B2D"/>
                </a:solidFill>
                <a:latin typeface="Arial" pitchFamily="34" charset="0"/>
                <a:ea typeface="Arial" pitchFamily="34" charset="-122"/>
                <a:cs typeface="Arial" pitchFamily="34" charset="-120"/>
              </a:rPr>
              <a:t>Fabric tells you your data is bad. GoldenRecord fixes it.</a:t>
            </a:r>
            <a:endParaRPr lang="en-US" sz="6000" dirty="0"/>
          </a:p>
        </p:txBody>
      </p:sp>
      <p:sp>
        <p:nvSpPr>
          <p:cNvPr id="4" name="Text 2"/>
          <p:cNvSpPr/>
          <p:nvPr/>
        </p:nvSpPr>
        <p:spPr>
          <a:xfrm>
            <a:off x="812800" y="4226620"/>
            <a:ext cx="98107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2A2A22"/>
                </a:solidFill>
                <a:latin typeface="Arial" pitchFamily="34" charset="0"/>
                <a:ea typeface="Arial" pitchFamily="34" charset="-122"/>
                <a:cs typeface="Arial" pitchFamily="34" charset="-120"/>
              </a:rPr>
              <a:t>Quarantined with a reason, repaired by rules learned once, resolved into one golden vendor, and approved by root cause.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BUILT ON FABRIC, NOT BESIDE IT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Fabric detects. We fix and resolve.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701727"/>
        </p:xfrm>
        <a:graphic>
          <a:graphicData uri="http://schemas.openxmlformats.org/drawingml/2006/table">
            <a:tbl>
              <a:tblPr/>
              <a:tblGrid>
                <a:gridCol w="1583055"/>
                <a:gridCol w="3904869"/>
                <a:gridCol w="5065776"/>
              </a:tblGrid>
              <a:tr h="385961">
                <a:tc>
                  <a:txBody>
                    <a:bodyPr/>
                    <a:lstStyle/>
                    <a:p>
                      <a:pPr indent="0" marL="0">
                        <a:lnSpc>
                          <a:spcPts val="1960"/>
                        </a:lnSpc>
                        <a:buNone/>
                      </a:pPr>
                      <a:r>
                        <a:rPr lang="en-US" sz="1400" b="1" dirty="0">
                          <a:solidFill>
                            <a:srgbClr val="F6F4EE"/>
                          </a:solidFill>
                          <a:latin typeface="Arial" pitchFamily="34" charset="0"/>
                          <a:ea typeface="Arial" pitchFamily="34" charset="-122"/>
                          <a:cs typeface="Arial" pitchFamily="34" charset="-120"/>
                        </a:rPr>
                        <a:t>Job</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4EE"/>
                          </a:solidFill>
                          <a:latin typeface="Arial" pitchFamily="34" charset="0"/>
                          <a:ea typeface="Arial" pitchFamily="34" charset="-122"/>
                          <a:cs typeface="Arial" pitchFamily="34" charset="-120"/>
                        </a:rPr>
                        <a:t>Native Fabric (we use it)</a:t>
                      </a:r>
                      <a:endParaRPr lang="en-US" sz="1400" dirty="0">
                        <a:latin typeface="Arial" charset="0"/>
                        <a:ea typeface="Arial" charset="0"/>
                        <a:cs typeface="Arial" charset="0"/>
                      </a:endParaRPr>
                    </a:p>
                  </a:txBody>
                  <a:tcPr marL="62230" marR="62230" marT="62230" marB="6223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E8B84A"/>
                          </a:solidFill>
                          <a:latin typeface="Arial" pitchFamily="34" charset="0"/>
                          <a:ea typeface="Arial" pitchFamily="34" charset="-122"/>
                          <a:cs typeface="Arial" pitchFamily="34" charset="-120"/>
                        </a:rPr>
                        <a:t>GoldenRecord adds</a:t>
                      </a:r>
                      <a:endParaRPr lang="en-US" sz="1400" dirty="0">
                        <a:latin typeface="Arial" charset="0"/>
                        <a:ea typeface="Arial" charset="0"/>
                        <a:cs typeface="Arial" charset="0"/>
                      </a:endParaRPr>
                    </a:p>
                  </a:txBody>
                  <a:tcPr marL="62230" marR="62230" marT="62230" marB="6223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Detect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Materialized lake view constraints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Quarantine view: every dropped row with its rules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Alert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Activator on a per-source score view</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Scores tied to root causes a steward can fix</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Fix</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Fixes authored once by AI Functions, versioned</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Resolve</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 (fuzzy merge is a join, not MDM)</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Golden records: survivorship, explain, unmerge</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Steward</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Power BI translytical task flows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Pattern queue: one click, thousands of records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Protect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OneLake security, Key Vault</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PII tokenized from Bronze; raw only in a vault</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Arial" pitchFamily="34" charset="0"/>
                <a:ea typeface="Arial" pitchFamily="34" charset="-122"/>
                <a:cs typeface="Arial" pitchFamily="34" charset="-120"/>
              </a:rPr>
              <a:t>Purview is optional: the same rule IDs feed its scorecard where the tenant has it. Nothing in the solution runs outside Fabric.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THE GUARDRAIL LOOP</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Detect, explain, fix once, approve by pattern</a:t>
            </a:r>
            <a:endParaRPr lang="en-US" sz="3600" dirty="0"/>
          </a:p>
        </p:txBody>
      </p:sp>
      <p:sp>
        <p:nvSpPr>
          <p:cNvPr id="4" name="Shape 2"/>
          <p:cNvSpPr/>
          <p:nvPr/>
        </p:nvSpPr>
        <p:spPr>
          <a:xfrm>
            <a:off x="812800" y="1998861"/>
            <a:ext cx="2451100" cy="0"/>
          </a:xfrm>
          <a:prstGeom prst="line">
            <a:avLst/>
          </a:prstGeom>
          <a:noFill/>
          <a:ln w="25400">
            <a:solidFill>
              <a:srgbClr val="0F1B2D"/>
            </a:solidFill>
            <a:prstDash val="solid"/>
          </a:ln>
        </p:spPr>
      </p:sp>
      <p:sp>
        <p:nvSpPr>
          <p:cNvPr id="5" name="Text 3"/>
          <p:cNvSpPr/>
          <p:nvPr/>
        </p:nvSpPr>
        <p:spPr>
          <a:xfrm>
            <a:off x="812800" y="22147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A5F00"/>
                </a:solidFill>
                <a:latin typeface="Arial" pitchFamily="34" charset="0"/>
                <a:ea typeface="Arial" pitchFamily="34" charset="-122"/>
                <a:cs typeface="Arial" pitchFamily="34" charset="-120"/>
              </a:rPr>
              <a:t>01</a:t>
            </a:r>
            <a:endParaRPr lang="en-US" sz="3600" dirty="0"/>
          </a:p>
        </p:txBody>
      </p:sp>
      <p:sp>
        <p:nvSpPr>
          <p:cNvPr id="6" name="Text 4"/>
          <p:cNvSpPr/>
          <p:nvPr/>
        </p:nvSpPr>
        <p:spPr>
          <a:xfrm>
            <a:off x="812800" y="2773561"/>
            <a:ext cx="252463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Arial" pitchFamily="34" charset="0"/>
                <a:ea typeface="Arial" pitchFamily="34" charset="-122"/>
                <a:cs typeface="Arial" pitchFamily="34" charset="-120"/>
              </a:rPr>
              <a:t>Detect</a:t>
            </a:r>
            <a:endParaRPr lang="en-US" sz="2200" dirty="0"/>
          </a:p>
        </p:txBody>
      </p:sp>
      <p:sp>
        <p:nvSpPr>
          <p:cNvPr id="7" name="Text 5"/>
          <p:cNvSpPr/>
          <p:nvPr/>
        </p:nvSpPr>
        <p:spPr>
          <a:xfrm>
            <a:off x="812800" y="3210421"/>
            <a:ext cx="252463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Arial" pitchFamily="34" charset="0"/>
                <a:ea typeface="Arial" pitchFamily="34" charset="-122"/>
                <a:cs typeface="Arial" pitchFamily="34" charset="-120"/>
              </a:rPr>
              <a:t>Native MLV constraints check every row against one rule catalog.</a:t>
            </a:r>
            <a:endParaRPr lang="en-US" sz="1400" dirty="0"/>
          </a:p>
        </p:txBody>
      </p:sp>
      <p:sp>
        <p:nvSpPr>
          <p:cNvPr id="8" name="Shape 6"/>
          <p:cNvSpPr/>
          <p:nvPr/>
        </p:nvSpPr>
        <p:spPr>
          <a:xfrm>
            <a:off x="3517900" y="1998861"/>
            <a:ext cx="2451100" cy="0"/>
          </a:xfrm>
          <a:prstGeom prst="line">
            <a:avLst/>
          </a:prstGeom>
          <a:noFill/>
          <a:ln w="25400">
            <a:solidFill>
              <a:srgbClr val="0F1B2D"/>
            </a:solidFill>
            <a:prstDash val="solid"/>
          </a:ln>
        </p:spPr>
      </p:sp>
      <p:sp>
        <p:nvSpPr>
          <p:cNvPr id="9" name="Text 7"/>
          <p:cNvSpPr/>
          <p:nvPr/>
        </p:nvSpPr>
        <p:spPr>
          <a:xfrm>
            <a:off x="3517900" y="22147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A5F00"/>
                </a:solidFill>
                <a:latin typeface="Arial" pitchFamily="34" charset="0"/>
                <a:ea typeface="Arial" pitchFamily="34" charset="-122"/>
                <a:cs typeface="Arial" pitchFamily="34" charset="-120"/>
              </a:rPr>
              <a:t>02</a:t>
            </a:r>
            <a:endParaRPr lang="en-US" sz="3600" dirty="0"/>
          </a:p>
        </p:txBody>
      </p:sp>
      <p:sp>
        <p:nvSpPr>
          <p:cNvPr id="10" name="Text 8"/>
          <p:cNvSpPr/>
          <p:nvPr/>
        </p:nvSpPr>
        <p:spPr>
          <a:xfrm>
            <a:off x="3517900" y="2773561"/>
            <a:ext cx="252463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Arial" pitchFamily="34" charset="0"/>
                <a:ea typeface="Arial" pitchFamily="34" charset="-122"/>
                <a:cs typeface="Arial" pitchFamily="34" charset="-120"/>
              </a:rPr>
              <a:t>Explain</a:t>
            </a:r>
            <a:endParaRPr lang="en-US" sz="2200" dirty="0"/>
          </a:p>
        </p:txBody>
      </p:sp>
      <p:sp>
        <p:nvSpPr>
          <p:cNvPr id="11" name="Text 9"/>
          <p:cNvSpPr/>
          <p:nvPr/>
        </p:nvSpPr>
        <p:spPr>
          <a:xfrm>
            <a:off x="3517900" y="3210421"/>
            <a:ext cx="252463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Arial" pitchFamily="34" charset="0"/>
                <a:ea typeface="Arial" pitchFamily="34" charset="-122"/>
                <a:cs typeface="Arial" pitchFamily="34" charset="-120"/>
              </a:rPr>
              <a:t>Dropped rows are quarantined with the rules they failed and a root cause.</a:t>
            </a:r>
            <a:endParaRPr lang="en-US" sz="1400" dirty="0"/>
          </a:p>
        </p:txBody>
      </p:sp>
      <p:sp>
        <p:nvSpPr>
          <p:cNvPr id="12" name="Shape 10"/>
          <p:cNvSpPr/>
          <p:nvPr/>
        </p:nvSpPr>
        <p:spPr>
          <a:xfrm>
            <a:off x="6223000" y="1998861"/>
            <a:ext cx="2451100" cy="0"/>
          </a:xfrm>
          <a:prstGeom prst="line">
            <a:avLst/>
          </a:prstGeom>
          <a:noFill/>
          <a:ln w="25400">
            <a:solidFill>
              <a:srgbClr val="0F1B2D"/>
            </a:solidFill>
            <a:prstDash val="solid"/>
          </a:ln>
        </p:spPr>
      </p:sp>
      <p:sp>
        <p:nvSpPr>
          <p:cNvPr id="13" name="Text 11"/>
          <p:cNvSpPr/>
          <p:nvPr/>
        </p:nvSpPr>
        <p:spPr>
          <a:xfrm>
            <a:off x="6223000" y="22147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A5F00"/>
                </a:solidFill>
                <a:latin typeface="Arial" pitchFamily="34" charset="0"/>
                <a:ea typeface="Arial" pitchFamily="34" charset="-122"/>
                <a:cs typeface="Arial" pitchFamily="34" charset="-120"/>
              </a:rPr>
              <a:t>03</a:t>
            </a:r>
            <a:endParaRPr lang="en-US" sz="3600" dirty="0"/>
          </a:p>
        </p:txBody>
      </p:sp>
      <p:sp>
        <p:nvSpPr>
          <p:cNvPr id="14" name="Text 12"/>
          <p:cNvSpPr/>
          <p:nvPr/>
        </p:nvSpPr>
        <p:spPr>
          <a:xfrm>
            <a:off x="6223000" y="2773561"/>
            <a:ext cx="252463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Arial" pitchFamily="34" charset="0"/>
                <a:ea typeface="Arial" pitchFamily="34" charset="-122"/>
                <a:cs typeface="Arial" pitchFamily="34" charset="-120"/>
              </a:rPr>
              <a:t>Fix once</a:t>
            </a:r>
            <a:endParaRPr lang="en-US" sz="2200" dirty="0"/>
          </a:p>
        </p:txBody>
      </p:sp>
      <p:sp>
        <p:nvSpPr>
          <p:cNvPr id="15" name="Text 13"/>
          <p:cNvSpPr/>
          <p:nvPr/>
        </p:nvSpPr>
        <p:spPr>
          <a:xfrm>
            <a:off x="6223000" y="3210421"/>
            <a:ext cx="252463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Arial" pitchFamily="34" charset="0"/>
                <a:ea typeface="Arial" pitchFamily="34" charset="-122"/>
                <a:cs typeface="Arial" pitchFamily="34" charset="-120"/>
              </a:rPr>
              <a:t>AI Functions author one fix per pattern; it is validated, versioned and reused.</a:t>
            </a:r>
            <a:endParaRPr lang="en-US" sz="1400" dirty="0"/>
          </a:p>
        </p:txBody>
      </p:sp>
      <p:sp>
        <p:nvSpPr>
          <p:cNvPr id="16" name="Shape 14"/>
          <p:cNvSpPr/>
          <p:nvPr/>
        </p:nvSpPr>
        <p:spPr>
          <a:xfrm>
            <a:off x="8928100" y="1998861"/>
            <a:ext cx="2451100" cy="0"/>
          </a:xfrm>
          <a:prstGeom prst="line">
            <a:avLst/>
          </a:prstGeom>
          <a:noFill/>
          <a:ln w="25400">
            <a:solidFill>
              <a:srgbClr val="0F1B2D"/>
            </a:solidFill>
            <a:prstDash val="solid"/>
          </a:ln>
        </p:spPr>
      </p:sp>
      <p:sp>
        <p:nvSpPr>
          <p:cNvPr id="17" name="Text 15"/>
          <p:cNvSpPr/>
          <p:nvPr/>
        </p:nvSpPr>
        <p:spPr>
          <a:xfrm>
            <a:off x="8928100" y="2214761"/>
            <a:ext cx="25246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A5F00"/>
                </a:solidFill>
                <a:latin typeface="Arial" pitchFamily="34" charset="0"/>
                <a:ea typeface="Arial" pitchFamily="34" charset="-122"/>
                <a:cs typeface="Arial" pitchFamily="34" charset="-120"/>
              </a:rPr>
              <a:t>04</a:t>
            </a:r>
            <a:endParaRPr lang="en-US" sz="3600" dirty="0"/>
          </a:p>
        </p:txBody>
      </p:sp>
      <p:sp>
        <p:nvSpPr>
          <p:cNvPr id="18" name="Text 16"/>
          <p:cNvSpPr/>
          <p:nvPr/>
        </p:nvSpPr>
        <p:spPr>
          <a:xfrm>
            <a:off x="8928100" y="2773561"/>
            <a:ext cx="252463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Arial" pitchFamily="34" charset="0"/>
                <a:ea typeface="Arial" pitchFamily="34" charset="-122"/>
                <a:cs typeface="Arial" pitchFamily="34" charset="-120"/>
              </a:rPr>
              <a:t>Approve</a:t>
            </a:r>
            <a:endParaRPr lang="en-US" sz="2200" dirty="0"/>
          </a:p>
        </p:txBody>
      </p:sp>
      <p:sp>
        <p:nvSpPr>
          <p:cNvPr id="19" name="Text 17"/>
          <p:cNvSpPr/>
          <p:nvPr/>
        </p:nvSpPr>
        <p:spPr>
          <a:xfrm>
            <a:off x="8928100" y="3210421"/>
            <a:ext cx="252463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Arial" pitchFamily="34" charset="0"/>
                <a:ea typeface="Arial" pitchFamily="34" charset="-122"/>
                <a:cs typeface="Arial" pitchFamily="34" charset="-120"/>
              </a:rPr>
              <a:t>Stewards approve by root cause in Power BI: one click, thousands of records.</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Arial" pitchFamily="34" charset="0"/>
                <a:ea typeface="Arial" pitchFamily="34" charset="-122"/>
                <a:cs typeface="Arial" pitchFamily="34" charset="-120"/>
              </a:rPr>
              <a:t>Supporting proof: golden vendor records with survivorship put 99.1% of Gold spend on the right vendor.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ARCHITECTURE · ALL IN MICROSOFT FABRIC</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How GoldenRecord works</a:t>
            </a:r>
            <a:endParaRPr lang="en-US" sz="3600" dirty="0"/>
          </a:p>
        </p:txBody>
      </p:sp>
      <p:sp>
        <p:nvSpPr>
          <p:cNvPr id="4" name="Shape 2"/>
          <p:cNvSpPr/>
          <p:nvPr/>
        </p:nvSpPr>
        <p:spPr>
          <a:xfrm>
            <a:off x="819150" y="1847850"/>
            <a:ext cx="1257300" cy="2336800"/>
          </a:xfrm>
          <a:prstGeom prst="roundRect">
            <a:avLst>
              <a:gd name="adj" fmla="val 7576"/>
            </a:avLst>
          </a:prstGeom>
          <a:solidFill>
            <a:srgbClr val="EDEAE1"/>
          </a:solidFill>
          <a:ln w="12700">
            <a:solidFill>
              <a:srgbClr val="9AA0A8"/>
            </a:solidFill>
            <a:prstDash val="dash"/>
          </a:ln>
        </p:spPr>
      </p:sp>
      <p:sp>
        <p:nvSpPr>
          <p:cNvPr id="5" name="Text 3"/>
          <p:cNvSpPr/>
          <p:nvPr/>
        </p:nvSpPr>
        <p:spPr>
          <a:xfrm>
            <a:off x="977900" y="2006600"/>
            <a:ext cx="9906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180"/>
                </a:solidFill>
                <a:latin typeface="Arial" pitchFamily="34" charset="0"/>
                <a:ea typeface="Arial" pitchFamily="34" charset="-122"/>
                <a:cs typeface="Arial" pitchFamily="34" charset="-120"/>
              </a:rPr>
              <a:t>INPUT</a:t>
            </a:r>
            <a:endParaRPr lang="en-US" sz="1200" dirty="0"/>
          </a:p>
        </p:txBody>
      </p:sp>
      <p:sp>
        <p:nvSpPr>
          <p:cNvPr id="6" name="Text 4"/>
          <p:cNvSpPr/>
          <p:nvPr/>
        </p:nvSpPr>
        <p:spPr>
          <a:xfrm>
            <a:off x="977900" y="2296120"/>
            <a:ext cx="990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Sources</a:t>
            </a:r>
            <a:endParaRPr lang="en-US" sz="1600" dirty="0"/>
          </a:p>
        </p:txBody>
      </p:sp>
      <p:sp>
        <p:nvSpPr>
          <p:cNvPr id="7" name="Text 5"/>
          <p:cNvSpPr/>
          <p:nvPr/>
        </p:nvSpPr>
        <p:spPr>
          <a:xfrm>
            <a:off x="977900" y="2616101"/>
            <a:ext cx="990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Three ERP extracts via Data Factory</a:t>
            </a:r>
            <a:endParaRPr lang="en-US" sz="1200" dirty="0"/>
          </a:p>
        </p:txBody>
      </p:sp>
      <p:sp>
        <p:nvSpPr>
          <p:cNvPr id="8" name="Shape 6"/>
          <p:cNvSpPr/>
          <p:nvPr/>
        </p:nvSpPr>
        <p:spPr>
          <a:xfrm>
            <a:off x="2333625" y="1844675"/>
            <a:ext cx="1581150" cy="2343150"/>
          </a:xfrm>
          <a:prstGeom prst="roundRect">
            <a:avLst>
              <a:gd name="adj" fmla="val 6225"/>
            </a:avLst>
          </a:prstGeom>
          <a:solidFill>
            <a:srgbClr val="FDFCF9"/>
          </a:solidFill>
          <a:ln w="6350">
            <a:solidFill>
              <a:srgbClr val="D9D4C7"/>
            </a:solidFill>
            <a:prstDash val="solid"/>
          </a:ln>
        </p:spPr>
      </p:sp>
      <p:sp>
        <p:nvSpPr>
          <p:cNvPr id="9" name="Text 7"/>
          <p:cNvSpPr/>
          <p:nvPr/>
        </p:nvSpPr>
        <p:spPr>
          <a:xfrm>
            <a:off x="2489200" y="200025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F00"/>
                </a:solidFill>
                <a:latin typeface="Arial" pitchFamily="34" charset="0"/>
                <a:ea typeface="Arial" pitchFamily="34" charset="-122"/>
                <a:cs typeface="Arial" pitchFamily="34" charset="-120"/>
              </a:rPr>
              <a:t>01 · BRONZE</a:t>
            </a:r>
            <a:endParaRPr lang="en-US" sz="1200" dirty="0"/>
          </a:p>
        </p:txBody>
      </p:sp>
      <p:sp>
        <p:nvSpPr>
          <p:cNvPr id="10" name="Text 8"/>
          <p:cNvSpPr/>
          <p:nvPr/>
        </p:nvSpPr>
        <p:spPr>
          <a:xfrm>
            <a:off x="2489200" y="2289770"/>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Ingest</a:t>
            </a:r>
            <a:endParaRPr lang="en-US" sz="1600" dirty="0"/>
          </a:p>
        </p:txBody>
      </p:sp>
      <p:sp>
        <p:nvSpPr>
          <p:cNvPr id="11" name="Text 9"/>
          <p:cNvSpPr/>
          <p:nvPr/>
        </p:nvSpPr>
        <p:spPr>
          <a:xfrm>
            <a:off x="2489200" y="2609751"/>
            <a:ext cx="13208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PII tokenized and masked; raw values to a locked vault</a:t>
            </a:r>
            <a:endParaRPr lang="en-US" sz="1200" dirty="0"/>
          </a:p>
        </p:txBody>
      </p:sp>
      <p:sp>
        <p:nvSpPr>
          <p:cNvPr id="12" name="Shape 10"/>
          <p:cNvSpPr/>
          <p:nvPr/>
        </p:nvSpPr>
        <p:spPr>
          <a:xfrm>
            <a:off x="4168775" y="1844675"/>
            <a:ext cx="1708150" cy="2343150"/>
          </a:xfrm>
          <a:prstGeom prst="roundRect">
            <a:avLst>
              <a:gd name="adj" fmla="val 5762"/>
            </a:avLst>
          </a:prstGeom>
          <a:solidFill>
            <a:srgbClr val="FDFCF9"/>
          </a:solidFill>
          <a:ln w="6350">
            <a:solidFill>
              <a:srgbClr val="D9D4C7"/>
            </a:solidFill>
            <a:prstDash val="solid"/>
          </a:ln>
        </p:spPr>
      </p:sp>
      <p:sp>
        <p:nvSpPr>
          <p:cNvPr id="13" name="Text 11"/>
          <p:cNvSpPr/>
          <p:nvPr/>
        </p:nvSpPr>
        <p:spPr>
          <a:xfrm>
            <a:off x="4324350" y="20002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F00"/>
                </a:solidFill>
                <a:latin typeface="Arial" pitchFamily="34" charset="0"/>
                <a:ea typeface="Arial" pitchFamily="34" charset="-122"/>
                <a:cs typeface="Arial" pitchFamily="34" charset="-120"/>
              </a:rPr>
              <a:t>02 · SILVER</a:t>
            </a:r>
            <a:endParaRPr lang="en-US" sz="1200" dirty="0"/>
          </a:p>
        </p:txBody>
      </p:sp>
      <p:sp>
        <p:nvSpPr>
          <p:cNvPr id="14" name="Text 12"/>
          <p:cNvSpPr/>
          <p:nvPr/>
        </p:nvSpPr>
        <p:spPr>
          <a:xfrm>
            <a:off x="4324350" y="2289770"/>
            <a:ext cx="1447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Learn once</a:t>
            </a:r>
            <a:endParaRPr lang="en-US" sz="1600" dirty="0"/>
          </a:p>
        </p:txBody>
      </p:sp>
      <p:sp>
        <p:nvSpPr>
          <p:cNvPr id="15" name="Text 13"/>
          <p:cNvSpPr/>
          <p:nvPr/>
        </p:nvSpPr>
        <p:spPr>
          <a:xfrm>
            <a:off x="4324350" y="2609751"/>
            <a:ext cx="14478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AI Functions map each new value once; then plain lookups</a:t>
            </a:r>
            <a:endParaRPr lang="en-US" sz="1200" dirty="0"/>
          </a:p>
        </p:txBody>
      </p:sp>
      <p:sp>
        <p:nvSpPr>
          <p:cNvPr id="16" name="Shape 14"/>
          <p:cNvSpPr/>
          <p:nvPr/>
        </p:nvSpPr>
        <p:spPr>
          <a:xfrm>
            <a:off x="6130925" y="1844675"/>
            <a:ext cx="1581150" cy="2343150"/>
          </a:xfrm>
          <a:prstGeom prst="roundRect">
            <a:avLst>
              <a:gd name="adj" fmla="val 6225"/>
            </a:avLst>
          </a:prstGeom>
          <a:solidFill>
            <a:srgbClr val="FDFCF9"/>
          </a:solidFill>
          <a:ln w="6350">
            <a:solidFill>
              <a:srgbClr val="D9D4C7"/>
            </a:solidFill>
            <a:prstDash val="solid"/>
          </a:ln>
        </p:spPr>
      </p:sp>
      <p:sp>
        <p:nvSpPr>
          <p:cNvPr id="17" name="Text 15"/>
          <p:cNvSpPr/>
          <p:nvPr/>
        </p:nvSpPr>
        <p:spPr>
          <a:xfrm>
            <a:off x="6286500" y="200025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F00"/>
                </a:solidFill>
                <a:latin typeface="Arial" pitchFamily="34" charset="0"/>
                <a:ea typeface="Arial" pitchFamily="34" charset="-122"/>
                <a:cs typeface="Arial" pitchFamily="34" charset="-120"/>
              </a:rPr>
              <a:t>03 · MLV</a:t>
            </a:r>
            <a:endParaRPr lang="en-US" sz="1200" dirty="0"/>
          </a:p>
        </p:txBody>
      </p:sp>
      <p:sp>
        <p:nvSpPr>
          <p:cNvPr id="18" name="Text 16"/>
          <p:cNvSpPr/>
          <p:nvPr/>
        </p:nvSpPr>
        <p:spPr>
          <a:xfrm>
            <a:off x="6286500" y="2289770"/>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Detect</a:t>
            </a:r>
            <a:endParaRPr lang="en-US" sz="1600" dirty="0"/>
          </a:p>
        </p:txBody>
      </p:sp>
      <p:sp>
        <p:nvSpPr>
          <p:cNvPr id="19" name="Text 17"/>
          <p:cNvSpPr/>
          <p:nvPr/>
        </p:nvSpPr>
        <p:spPr>
          <a:xfrm>
            <a:off x="6286500" y="2609751"/>
            <a:ext cx="13208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Constraints drop bad rows; quarantine keeps the reason</a:t>
            </a:r>
            <a:endParaRPr lang="en-US" sz="1200" dirty="0"/>
          </a:p>
        </p:txBody>
      </p:sp>
      <p:sp>
        <p:nvSpPr>
          <p:cNvPr id="20" name="Shape 18"/>
          <p:cNvSpPr/>
          <p:nvPr/>
        </p:nvSpPr>
        <p:spPr>
          <a:xfrm>
            <a:off x="7962900" y="1841500"/>
            <a:ext cx="1587500" cy="2349500"/>
          </a:xfrm>
          <a:prstGeom prst="roundRect">
            <a:avLst>
              <a:gd name="adj" fmla="val 6400"/>
            </a:avLst>
          </a:prstGeom>
          <a:solidFill>
            <a:srgbClr val="0F1B2D"/>
          </a:solidFill>
          <a:ln/>
        </p:spPr>
      </p:sp>
      <p:sp>
        <p:nvSpPr>
          <p:cNvPr id="21" name="Text 19"/>
          <p:cNvSpPr/>
          <p:nvPr/>
        </p:nvSpPr>
        <p:spPr>
          <a:xfrm>
            <a:off x="8115300" y="1993900"/>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B84A"/>
                </a:solidFill>
                <a:latin typeface="Arial" pitchFamily="34" charset="0"/>
                <a:ea typeface="Arial" pitchFamily="34" charset="-122"/>
                <a:cs typeface="Arial" pitchFamily="34" charset="-120"/>
              </a:rPr>
              <a:t>04 · GOLD</a:t>
            </a:r>
            <a:endParaRPr lang="en-US" sz="1200" dirty="0"/>
          </a:p>
        </p:txBody>
      </p:sp>
      <p:sp>
        <p:nvSpPr>
          <p:cNvPr id="22" name="Text 20"/>
          <p:cNvSpPr/>
          <p:nvPr/>
        </p:nvSpPr>
        <p:spPr>
          <a:xfrm>
            <a:off x="8115300" y="2283420"/>
            <a:ext cx="13335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Resolve</a:t>
            </a:r>
            <a:endParaRPr lang="en-US" sz="1600" dirty="0"/>
          </a:p>
        </p:txBody>
      </p:sp>
      <p:sp>
        <p:nvSpPr>
          <p:cNvPr id="23" name="Text 21"/>
          <p:cNvSpPr/>
          <p:nvPr/>
        </p:nvSpPr>
        <p:spPr>
          <a:xfrm>
            <a:off x="8115300" y="2603401"/>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Golden records behind the guardrail; every merge reversible</a:t>
            </a:r>
            <a:endParaRPr lang="en-US" sz="1200" dirty="0"/>
          </a:p>
        </p:txBody>
      </p:sp>
      <p:sp>
        <p:nvSpPr>
          <p:cNvPr id="24" name="Shape 22"/>
          <p:cNvSpPr/>
          <p:nvPr/>
        </p:nvSpPr>
        <p:spPr>
          <a:xfrm>
            <a:off x="9798050" y="1847850"/>
            <a:ext cx="1574800" cy="1193800"/>
          </a:xfrm>
          <a:prstGeom prst="roundRect">
            <a:avLst>
              <a:gd name="adj" fmla="val 7979"/>
            </a:avLst>
          </a:prstGeom>
          <a:solidFill>
            <a:srgbClr val="E3EEF8"/>
          </a:solidFill>
          <a:ln w="12700">
            <a:solidFill>
              <a:srgbClr val="3B6EA5"/>
            </a:solidFill>
            <a:prstDash val="solid"/>
          </a:ln>
        </p:spPr>
      </p:sp>
      <p:sp>
        <p:nvSpPr>
          <p:cNvPr id="25" name="Text 23"/>
          <p:cNvSpPr/>
          <p:nvPr/>
        </p:nvSpPr>
        <p:spPr>
          <a:xfrm>
            <a:off x="9931400" y="1981200"/>
            <a:ext cx="13589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E80"/>
                </a:solidFill>
                <a:latin typeface="Arial" pitchFamily="34" charset="0"/>
                <a:ea typeface="Arial" pitchFamily="34" charset="-122"/>
                <a:cs typeface="Arial" pitchFamily="34" charset="-120"/>
              </a:rPr>
              <a:t>Certified</a:t>
            </a:r>
            <a:endParaRPr lang="en-US" sz="1600" dirty="0"/>
          </a:p>
        </p:txBody>
      </p:sp>
      <p:sp>
        <p:nvSpPr>
          <p:cNvPr id="26" name="Text 24"/>
          <p:cNvSpPr/>
          <p:nvPr/>
        </p:nvSpPr>
        <p:spPr>
          <a:xfrm>
            <a:off x="9931400" y="2275780"/>
            <a:ext cx="1358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3550"/>
                </a:solidFill>
                <a:latin typeface="Arial" pitchFamily="34" charset="0"/>
                <a:ea typeface="Arial" pitchFamily="34" charset="-122"/>
                <a:cs typeface="Arial" pitchFamily="34" charset="-120"/>
              </a:rPr>
              <a:t>Spend in Power BI, Gold only</a:t>
            </a:r>
            <a:endParaRPr lang="en-US" sz="1200" dirty="0"/>
          </a:p>
        </p:txBody>
      </p:sp>
      <p:sp>
        <p:nvSpPr>
          <p:cNvPr id="27" name="Shape 25"/>
          <p:cNvSpPr/>
          <p:nvPr/>
        </p:nvSpPr>
        <p:spPr>
          <a:xfrm>
            <a:off x="9798050" y="3181350"/>
            <a:ext cx="1574800" cy="1003300"/>
          </a:xfrm>
          <a:prstGeom prst="roundRect">
            <a:avLst>
              <a:gd name="adj" fmla="val 9494"/>
            </a:avLst>
          </a:prstGeom>
          <a:solidFill>
            <a:srgbClr val="FBEADB"/>
          </a:solidFill>
          <a:ln w="12700">
            <a:solidFill>
              <a:srgbClr val="C2621C"/>
            </a:solidFill>
            <a:prstDash val="solid"/>
          </a:ln>
        </p:spPr>
      </p:sp>
      <p:sp>
        <p:nvSpPr>
          <p:cNvPr id="28" name="Text 26"/>
          <p:cNvSpPr/>
          <p:nvPr/>
        </p:nvSpPr>
        <p:spPr>
          <a:xfrm>
            <a:off x="9931400" y="3314700"/>
            <a:ext cx="13589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A3F0A"/>
                </a:solidFill>
                <a:latin typeface="Arial" pitchFamily="34" charset="0"/>
                <a:ea typeface="Arial" pitchFamily="34" charset="-122"/>
                <a:cs typeface="Arial" pitchFamily="34" charset="-120"/>
              </a:rPr>
              <a:t>Patterns</a:t>
            </a:r>
            <a:endParaRPr lang="en-US" sz="1600" dirty="0"/>
          </a:p>
        </p:txBody>
      </p:sp>
      <p:sp>
        <p:nvSpPr>
          <p:cNvPr id="29" name="Text 27"/>
          <p:cNvSpPr/>
          <p:nvPr/>
        </p:nvSpPr>
        <p:spPr>
          <a:xfrm>
            <a:off x="9931400" y="3609280"/>
            <a:ext cx="13589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2E0E"/>
                </a:solidFill>
                <a:latin typeface="Arial" pitchFamily="34" charset="0"/>
                <a:ea typeface="Arial" pitchFamily="34" charset="-122"/>
                <a:cs typeface="Arial" pitchFamily="34" charset="-120"/>
              </a:rPr>
              <a:t>Stewards approve in Power BI</a:t>
            </a:r>
            <a:endParaRPr lang="en-US" sz="1200" dirty="0"/>
          </a:p>
        </p:txBody>
      </p:sp>
      <p:pic>
        <p:nvPicPr>
          <p:cNvPr id="30" name="Image 0" descr="connector">    </p:cNvPr>
          <p:cNvPicPr>
            <a:picLocks noChangeAspect="1"/>
          </p:cNvPicPr>
          <p:nvPr/>
        </p:nvPicPr>
        <p:blipFill>
          <a:blip r:embed="rId1"/>
          <a:srcRect l="0" r="0" t="0" b="0"/>
          <a:stretch/>
        </p:blipFill>
        <p:spPr>
          <a:xfrm>
            <a:off x="2032000" y="2965450"/>
            <a:ext cx="349250" cy="101600"/>
          </a:xfrm>
          <a:prstGeom prst="rect">
            <a:avLst/>
          </a:prstGeom>
        </p:spPr>
      </p:pic>
      <p:pic>
        <p:nvPicPr>
          <p:cNvPr id="31" name="Image 1" descr="connector">    </p:cNvPr>
          <p:cNvPicPr>
            <a:picLocks noChangeAspect="1"/>
          </p:cNvPicPr>
          <p:nvPr/>
        </p:nvPicPr>
        <p:blipFill>
          <a:blip r:embed="rId2"/>
          <a:srcRect l="0" r="0" t="0" b="0"/>
          <a:stretch/>
        </p:blipFill>
        <p:spPr>
          <a:xfrm>
            <a:off x="3867150" y="2965450"/>
            <a:ext cx="349250" cy="101600"/>
          </a:xfrm>
          <a:prstGeom prst="rect">
            <a:avLst/>
          </a:prstGeom>
        </p:spPr>
      </p:pic>
      <p:pic>
        <p:nvPicPr>
          <p:cNvPr id="32" name="Image 2" descr="connector">    </p:cNvPr>
          <p:cNvPicPr>
            <a:picLocks noChangeAspect="1"/>
          </p:cNvPicPr>
          <p:nvPr/>
        </p:nvPicPr>
        <p:blipFill>
          <a:blip r:embed="rId3"/>
          <a:srcRect l="0" r="0" t="0" b="0"/>
          <a:stretch/>
        </p:blipFill>
        <p:spPr>
          <a:xfrm>
            <a:off x="5829300" y="2965450"/>
            <a:ext cx="349250" cy="101600"/>
          </a:xfrm>
          <a:prstGeom prst="rect">
            <a:avLst/>
          </a:prstGeom>
        </p:spPr>
      </p:pic>
      <p:pic>
        <p:nvPicPr>
          <p:cNvPr id="33" name="Image 3" descr="connector">    </p:cNvPr>
          <p:cNvPicPr>
            <a:picLocks noChangeAspect="1"/>
          </p:cNvPicPr>
          <p:nvPr/>
        </p:nvPicPr>
        <p:blipFill>
          <a:blip r:embed="rId4"/>
          <a:srcRect l="0" r="0" t="0" b="0"/>
          <a:stretch/>
        </p:blipFill>
        <p:spPr>
          <a:xfrm>
            <a:off x="7664450" y="2965450"/>
            <a:ext cx="349250" cy="101600"/>
          </a:xfrm>
          <a:prstGeom prst="rect">
            <a:avLst/>
          </a:prstGeom>
        </p:spPr>
      </p:pic>
      <p:pic>
        <p:nvPicPr>
          <p:cNvPr id="34" name="Image 4" descr="connector">    </p:cNvPr>
          <p:cNvPicPr>
            <a:picLocks noChangeAspect="1"/>
          </p:cNvPicPr>
          <p:nvPr/>
        </p:nvPicPr>
        <p:blipFill>
          <a:blip r:embed="rId5"/>
          <a:srcRect l="0" r="0" t="0" b="0"/>
          <a:stretch/>
        </p:blipFill>
        <p:spPr>
          <a:xfrm>
            <a:off x="9499600" y="2393950"/>
            <a:ext cx="342900" cy="101600"/>
          </a:xfrm>
          <a:prstGeom prst="rect">
            <a:avLst/>
          </a:prstGeom>
        </p:spPr>
      </p:pic>
      <p:pic>
        <p:nvPicPr>
          <p:cNvPr id="35" name="Image 5" descr="connector">    </p:cNvPr>
          <p:cNvPicPr>
            <a:picLocks noChangeAspect="1"/>
          </p:cNvPicPr>
          <p:nvPr/>
        </p:nvPicPr>
        <p:blipFill>
          <a:blip r:embed="rId6"/>
          <a:srcRect l="0" r="0" t="0" b="0"/>
          <a:stretch/>
        </p:blipFill>
        <p:spPr>
          <a:xfrm>
            <a:off x="9499600" y="3632200"/>
            <a:ext cx="342900" cy="101600"/>
          </a:xfrm>
          <a:prstGeom prst="rect">
            <a:avLst/>
          </a:prstGeom>
        </p:spPr>
      </p:pic>
      <p:pic>
        <p:nvPicPr>
          <p:cNvPr id="36" name="Image 6" descr="connector">    </p:cNvPr>
          <p:cNvPicPr>
            <a:picLocks noChangeAspect="1"/>
          </p:cNvPicPr>
          <p:nvPr/>
        </p:nvPicPr>
        <p:blipFill>
          <a:blip r:embed="rId7"/>
          <a:srcRect l="0" r="0" t="0" b="0"/>
          <a:stretch/>
        </p:blipFill>
        <p:spPr>
          <a:xfrm>
            <a:off x="10534650" y="4140200"/>
            <a:ext cx="101600" cy="431800"/>
          </a:xfrm>
          <a:prstGeom prst="rect">
            <a:avLst/>
          </a:prstGeom>
        </p:spPr>
      </p:pic>
      <p:pic>
        <p:nvPicPr>
          <p:cNvPr id="37" name="Image 7" descr="connector">    </p:cNvPr>
          <p:cNvPicPr>
            <a:picLocks noChangeAspect="1"/>
          </p:cNvPicPr>
          <p:nvPr/>
        </p:nvPicPr>
        <p:blipFill>
          <a:blip r:embed="rId8"/>
          <a:srcRect l="0" r="0" t="0" b="0"/>
          <a:stretch/>
        </p:blipFill>
        <p:spPr>
          <a:xfrm>
            <a:off x="4972050" y="4470400"/>
            <a:ext cx="5664200" cy="101600"/>
          </a:xfrm>
          <a:prstGeom prst="rect">
            <a:avLst/>
          </a:prstGeom>
        </p:spPr>
      </p:pic>
      <p:pic>
        <p:nvPicPr>
          <p:cNvPr id="38" name="Image 8" descr="connector">    </p:cNvPr>
          <p:cNvPicPr>
            <a:picLocks noChangeAspect="1"/>
          </p:cNvPicPr>
          <p:nvPr/>
        </p:nvPicPr>
        <p:blipFill>
          <a:blip r:embed="rId9"/>
          <a:srcRect l="0" r="0" t="0" b="0"/>
          <a:stretch/>
        </p:blipFill>
        <p:spPr>
          <a:xfrm>
            <a:off x="4972050" y="4152900"/>
            <a:ext cx="101600" cy="419100"/>
          </a:xfrm>
          <a:prstGeom prst="rect">
            <a:avLst/>
          </a:prstGeom>
        </p:spPr>
      </p:pic>
      <p:sp>
        <p:nvSpPr>
          <p:cNvPr id="39" name="Text 28"/>
          <p:cNvSpPr/>
          <p:nvPr/>
        </p:nvSpPr>
        <p:spPr>
          <a:xfrm>
            <a:off x="5259705" y="4597400"/>
            <a:ext cx="510159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4A12"/>
                </a:solidFill>
                <a:latin typeface="Arial" pitchFamily="34" charset="0"/>
                <a:ea typeface="Arial" pitchFamily="34" charset="-122"/>
                <a:cs typeface="Arial" pitchFamily="34" charset="-120"/>
              </a:rPr>
              <a:t>Approvals become versioned rules, applied to every record</a:t>
            </a:r>
            <a:endParaRPr lang="en-US" sz="1200" dirty="0"/>
          </a:p>
        </p:txBody>
      </p:sp>
      <p:sp>
        <p:nvSpPr>
          <p:cNvPr id="40" name="Shape 29"/>
          <p:cNvSpPr/>
          <p:nvPr/>
        </p:nvSpPr>
        <p:spPr>
          <a:xfrm>
            <a:off x="812800" y="5080000"/>
            <a:ext cx="10566400" cy="698500"/>
          </a:xfrm>
          <a:prstGeom prst="roundRect">
            <a:avLst>
              <a:gd name="adj" fmla="val 14545"/>
            </a:avLst>
          </a:prstGeom>
          <a:solidFill>
            <a:srgbClr val="0F1B2D"/>
          </a:solidFill>
          <a:ln/>
        </p:spPr>
      </p:sp>
      <p:sp>
        <p:nvSpPr>
          <p:cNvPr id="41" name="Text 30"/>
          <p:cNvSpPr/>
          <p:nvPr/>
        </p:nvSpPr>
        <p:spPr>
          <a:xfrm>
            <a:off x="1066800" y="5286970"/>
            <a:ext cx="2768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05</a:t>
            </a:r>
            <a:endParaRPr lang="en-US" sz="1600" dirty="0"/>
          </a:p>
        </p:txBody>
      </p:sp>
      <p:sp>
        <p:nvSpPr>
          <p:cNvPr id="42" name="Text 31"/>
          <p:cNvSpPr/>
          <p:nvPr/>
        </p:nvSpPr>
        <p:spPr>
          <a:xfrm>
            <a:off x="1496020" y="5307310"/>
            <a:ext cx="1861181" cy="269180"/>
          </a:xfrm>
          <a:prstGeom prst="rect">
            <a:avLst/>
          </a:prstGeom>
          <a:noFill/>
          <a:ln/>
        </p:spPr>
        <p:txBody>
          <a:bodyPr wrap="non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Native governance</a:t>
            </a:r>
            <a:endParaRPr lang="en-US" sz="1600" dirty="0"/>
          </a:p>
        </p:txBody>
      </p:sp>
      <p:sp>
        <p:nvSpPr>
          <p:cNvPr id="43" name="Text 32"/>
          <p:cNvSpPr/>
          <p:nvPr/>
        </p:nvSpPr>
        <p:spPr>
          <a:xfrm>
            <a:off x="3506192" y="5322590"/>
            <a:ext cx="73116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OneLake security · Key Vault · Activator per-source alerts · MLV lineage · Purview optional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THE GUARDRAIL</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AI proposes once, rules decide every time</a:t>
            </a:r>
            <a:endParaRPr lang="en-US" sz="3600" dirty="0"/>
          </a:p>
        </p:txBody>
      </p:sp>
      <p:sp>
        <p:nvSpPr>
          <p:cNvPr id="4" name="Text 2"/>
          <p:cNvSpPr/>
          <p:nvPr/>
        </p:nvSpPr>
        <p:spPr>
          <a:xfrm>
            <a:off x="812800" y="1935361"/>
            <a:ext cx="1638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5F00"/>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078210" y="1935361"/>
            <a:ext cx="588357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F1B2D"/>
                </a:solidFill>
                <a:latin typeface="Arial" pitchFamily="34" charset="0"/>
                <a:ea typeface="Arial" pitchFamily="34" charset="-122"/>
                <a:cs typeface="Arial" pitchFamily="34" charset="-120"/>
              </a:rPr>
              <a:t>Only distinct values never seen before reach AI Functions.</a:t>
            </a:r>
            <a:endParaRPr lang="en-US" sz="1500" dirty="0"/>
          </a:p>
        </p:txBody>
      </p:sp>
      <p:sp>
        <p:nvSpPr>
          <p:cNvPr id="6" name="Text 4"/>
          <p:cNvSpPr/>
          <p:nvPr/>
        </p:nvSpPr>
        <p:spPr>
          <a:xfrm>
            <a:off x="812800" y="2359521"/>
            <a:ext cx="1638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5F00"/>
                </a:solidFill>
                <a:latin typeface="Arial" pitchFamily="34" charset="0"/>
                <a:ea typeface="Arial" pitchFamily="34" charset="-122"/>
                <a:cs typeface="Arial" pitchFamily="34" charset="-120"/>
              </a:rPr>
              <a:t>2</a:t>
            </a:r>
            <a:endParaRPr lang="en-US" sz="1600" dirty="0"/>
          </a:p>
        </p:txBody>
      </p:sp>
      <p:sp>
        <p:nvSpPr>
          <p:cNvPr id="7" name="Text 5"/>
          <p:cNvSpPr/>
          <p:nvPr/>
        </p:nvSpPr>
        <p:spPr>
          <a:xfrm>
            <a:off x="1078210" y="2359521"/>
            <a:ext cx="542567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F1B2D"/>
                </a:solidFill>
                <a:latin typeface="Arial" pitchFamily="34" charset="0"/>
                <a:ea typeface="Arial" pitchFamily="34" charset="-122"/>
                <a:cs typeface="Arial" pitchFamily="34" charset="-120"/>
              </a:rPr>
              <a:t>A proposal is accepted only if its target already exists.</a:t>
            </a:r>
            <a:endParaRPr lang="en-US" sz="1500" dirty="0"/>
          </a:p>
        </p:txBody>
      </p:sp>
      <p:sp>
        <p:nvSpPr>
          <p:cNvPr id="8" name="Text 6"/>
          <p:cNvSpPr/>
          <p:nvPr/>
        </p:nvSpPr>
        <p:spPr>
          <a:xfrm>
            <a:off x="812800" y="2783681"/>
            <a:ext cx="1638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5F00"/>
                </a:solidFill>
                <a:latin typeface="Arial" pitchFamily="34" charset="0"/>
                <a:ea typeface="Arial" pitchFamily="34" charset="-122"/>
                <a:cs typeface="Arial" pitchFamily="34" charset="-120"/>
              </a:rPr>
              <a:t>3</a:t>
            </a:r>
            <a:endParaRPr lang="en-US" sz="1600" dirty="0"/>
          </a:p>
        </p:txBody>
      </p:sp>
      <p:sp>
        <p:nvSpPr>
          <p:cNvPr id="9" name="Text 7"/>
          <p:cNvSpPr/>
          <p:nvPr/>
        </p:nvSpPr>
        <p:spPr>
          <a:xfrm>
            <a:off x="1078210" y="2783681"/>
            <a:ext cx="56414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F1B2D"/>
                </a:solidFill>
                <a:latin typeface="Arial" pitchFamily="34" charset="0"/>
                <a:ea typeface="Arial" pitchFamily="34" charset="-122"/>
                <a:cs typeface="Arial" pitchFamily="34" charset="-120"/>
              </a:rPr>
              <a:t>Confident and valid: into the versioned library. Otherwise: a steward pattern.</a:t>
            </a:r>
            <a:endParaRPr lang="en-US" sz="1500" dirty="0"/>
          </a:p>
        </p:txBody>
      </p:sp>
      <p:sp>
        <p:nvSpPr>
          <p:cNvPr id="10" name="Text 8"/>
          <p:cNvSpPr/>
          <p:nvPr/>
        </p:nvSpPr>
        <p:spPr>
          <a:xfrm>
            <a:off x="812800" y="3437731"/>
            <a:ext cx="1638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5F00"/>
                </a:solidFill>
                <a:latin typeface="Arial" pitchFamily="34" charset="0"/>
                <a:ea typeface="Arial" pitchFamily="34" charset="-122"/>
                <a:cs typeface="Arial" pitchFamily="34" charset="-120"/>
              </a:rPr>
              <a:t>4</a:t>
            </a:r>
            <a:endParaRPr lang="en-US" sz="1600" dirty="0"/>
          </a:p>
        </p:txBody>
      </p:sp>
      <p:sp>
        <p:nvSpPr>
          <p:cNvPr id="11" name="Text 9"/>
          <p:cNvSpPr/>
          <p:nvPr/>
        </p:nvSpPr>
        <p:spPr>
          <a:xfrm>
            <a:off x="1078210" y="3437731"/>
            <a:ext cx="588357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F1B2D"/>
                </a:solidFill>
                <a:latin typeface="Arial" pitchFamily="34" charset="0"/>
                <a:ea typeface="Arial" pitchFamily="34" charset="-122"/>
                <a:cs typeface="Arial" pitchFamily="34" charset="-120"/>
              </a:rPr>
              <a:t>Pairs with two valid tax IDs never merge, whatever the AI says.</a:t>
            </a:r>
            <a:endParaRPr lang="en-US" sz="1500" dirty="0"/>
          </a:p>
        </p:txBody>
      </p:sp>
      <p:sp>
        <p:nvSpPr>
          <p:cNvPr id="12" name="Text 10"/>
          <p:cNvSpPr/>
          <p:nvPr/>
        </p:nvSpPr>
        <p:spPr>
          <a:xfrm>
            <a:off x="812800" y="3861891"/>
            <a:ext cx="1638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5F00"/>
                </a:solidFill>
                <a:latin typeface="Arial" pitchFamily="34" charset="0"/>
                <a:ea typeface="Arial" pitchFamily="34" charset="-122"/>
                <a:cs typeface="Arial" pitchFamily="34" charset="-120"/>
              </a:rPr>
              <a:t>5</a:t>
            </a:r>
            <a:endParaRPr lang="en-US" sz="1600" dirty="0"/>
          </a:p>
        </p:txBody>
      </p:sp>
      <p:sp>
        <p:nvSpPr>
          <p:cNvPr id="13" name="Text 11"/>
          <p:cNvSpPr/>
          <p:nvPr/>
        </p:nvSpPr>
        <p:spPr>
          <a:xfrm>
            <a:off x="1078210" y="3861891"/>
            <a:ext cx="56414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F1B2D"/>
                </a:solidFill>
                <a:latin typeface="Arial" pitchFamily="34" charset="0"/>
                <a:ea typeface="Arial" pitchFamily="34" charset="-122"/>
                <a:cs typeface="Arial" pitchFamily="34" charset="-120"/>
              </a:rPr>
              <a:t>Every mapping, fix and merge records who decided it, and can be undone.</a:t>
            </a:r>
            <a:endParaRPr lang="en-US" sz="1500" dirty="0"/>
          </a:p>
        </p:txBody>
      </p:sp>
      <p:sp>
        <p:nvSpPr>
          <p:cNvPr id="14" name="Shape 12"/>
          <p:cNvSpPr/>
          <p:nvPr/>
        </p:nvSpPr>
        <p:spPr>
          <a:xfrm>
            <a:off x="6961783" y="1935361"/>
            <a:ext cx="4417417" cy="1071761"/>
          </a:xfrm>
          <a:prstGeom prst="roundRect">
            <a:avLst>
              <a:gd name="adj" fmla="val 7110"/>
            </a:avLst>
          </a:prstGeom>
          <a:solidFill>
            <a:srgbClr val="0F1B2D"/>
          </a:solidFill>
          <a:ln/>
        </p:spPr>
      </p:sp>
      <p:sp>
        <p:nvSpPr>
          <p:cNvPr id="15" name="Text 13"/>
          <p:cNvSpPr/>
          <p:nvPr/>
        </p:nvSpPr>
        <p:spPr>
          <a:xfrm>
            <a:off x="7164983" y="2087761"/>
            <a:ext cx="4131348"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B84A"/>
                </a:solidFill>
                <a:latin typeface="Arial" pitchFamily="34" charset="0"/>
                <a:ea typeface="Arial" pitchFamily="34" charset="-122"/>
                <a:cs typeface="Arial" pitchFamily="34" charset="-120"/>
              </a:rPr>
              <a:t>0</a:t>
            </a:r>
            <a:endParaRPr lang="en-US" sz="3600" dirty="0"/>
          </a:p>
        </p:txBody>
      </p:sp>
      <p:sp>
        <p:nvSpPr>
          <p:cNvPr id="16" name="Text 14"/>
          <p:cNvSpPr/>
          <p:nvPr/>
        </p:nvSpPr>
        <p:spPr>
          <a:xfrm>
            <a:off x="7164983" y="2641402"/>
            <a:ext cx="4131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AI calls on a rerun, with identical output</a:t>
            </a:r>
            <a:endParaRPr lang="en-US" sz="1200" dirty="0"/>
          </a:p>
        </p:txBody>
      </p:sp>
      <p:sp>
        <p:nvSpPr>
          <p:cNvPr id="17" name="Shape 15"/>
          <p:cNvSpPr/>
          <p:nvPr/>
        </p:nvSpPr>
        <p:spPr>
          <a:xfrm>
            <a:off x="6964958" y="3111897"/>
            <a:ext cx="4411067" cy="1078111"/>
          </a:xfrm>
          <a:prstGeom prst="roundRect">
            <a:avLst>
              <a:gd name="adj" fmla="val 6773"/>
            </a:avLst>
          </a:prstGeom>
          <a:solidFill>
            <a:srgbClr val="FDFCF9"/>
          </a:solidFill>
          <a:ln w="6350">
            <a:solidFill>
              <a:srgbClr val="D9D4C7"/>
            </a:solidFill>
            <a:prstDash val="solid"/>
          </a:ln>
        </p:spPr>
      </p:sp>
      <p:sp>
        <p:nvSpPr>
          <p:cNvPr id="18" name="Text 16"/>
          <p:cNvSpPr/>
          <p:nvPr/>
        </p:nvSpPr>
        <p:spPr>
          <a:xfrm>
            <a:off x="7171333" y="3267472"/>
            <a:ext cx="4118267"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80"/>
                </a:solidFill>
                <a:latin typeface="Arial" pitchFamily="34" charset="0"/>
                <a:ea typeface="Arial" pitchFamily="34" charset="-122"/>
                <a:cs typeface="Arial" pitchFamily="34" charset="-120"/>
              </a:rPr>
              <a:t>107,525</a:t>
            </a:r>
            <a:endParaRPr lang="en-US" sz="3600" dirty="0"/>
          </a:p>
        </p:txBody>
      </p:sp>
      <p:sp>
        <p:nvSpPr>
          <p:cNvPr id="19" name="Text 17"/>
          <p:cNvSpPr/>
          <p:nvPr/>
        </p:nvSpPr>
        <p:spPr>
          <a:xfrm>
            <a:off x="7171333" y="3821113"/>
            <a:ext cx="41182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calls a run if the LLM looked at every row and pair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STEWARDSHIP AT SCALE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Decide by root cause, not by row</a:t>
            </a:r>
            <a:endParaRPr lang="en-US" sz="3600" dirty="0"/>
          </a:p>
        </p:txBody>
      </p:sp>
      <p:sp>
        <p:nvSpPr>
          <p:cNvPr id="4" name="Shape 2"/>
          <p:cNvSpPr/>
          <p:nvPr/>
        </p:nvSpPr>
        <p:spPr>
          <a:xfrm>
            <a:off x="815975" y="1913136"/>
            <a:ext cx="2524125" cy="1128911"/>
          </a:xfrm>
          <a:prstGeom prst="roundRect">
            <a:avLst>
              <a:gd name="adj" fmla="val 8719"/>
            </a:avLst>
          </a:prstGeom>
          <a:solidFill>
            <a:srgbClr val="FDFCF9"/>
          </a:solidFill>
          <a:ln w="6350">
            <a:solidFill>
              <a:srgbClr val="D9D4C7"/>
            </a:solidFill>
            <a:prstDash val="solid"/>
          </a:ln>
        </p:spPr>
      </p:sp>
      <p:sp>
        <p:nvSpPr>
          <p:cNvPr id="5" name="Text 3"/>
          <p:cNvSpPr/>
          <p:nvPr/>
        </p:nvSpPr>
        <p:spPr>
          <a:xfrm>
            <a:off x="996950" y="2094111"/>
            <a:ext cx="222704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80"/>
                </a:solidFill>
                <a:latin typeface="Arial" pitchFamily="34" charset="0"/>
                <a:ea typeface="Arial" pitchFamily="34" charset="-122"/>
                <a:cs typeface="Arial" pitchFamily="34" charset="-120"/>
              </a:rPr>
              <a:t>14,006</a:t>
            </a:r>
            <a:endParaRPr lang="en-US" sz="3600" dirty="0"/>
          </a:p>
        </p:txBody>
      </p:sp>
      <p:sp>
        <p:nvSpPr>
          <p:cNvPr id="6" name="Text 4"/>
          <p:cNvSpPr/>
          <p:nvPr/>
        </p:nvSpPr>
        <p:spPr>
          <a:xfrm>
            <a:off x="996950" y="2647752"/>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issue records</a:t>
            </a:r>
            <a:endParaRPr lang="en-US" sz="1200" dirty="0"/>
          </a:p>
        </p:txBody>
      </p:sp>
      <p:sp>
        <p:nvSpPr>
          <p:cNvPr id="7" name="Shape 5"/>
          <p:cNvSpPr/>
          <p:nvPr/>
        </p:nvSpPr>
        <p:spPr>
          <a:xfrm>
            <a:off x="3498850" y="1913136"/>
            <a:ext cx="2524125" cy="1128911"/>
          </a:xfrm>
          <a:prstGeom prst="roundRect">
            <a:avLst>
              <a:gd name="adj" fmla="val 8719"/>
            </a:avLst>
          </a:prstGeom>
          <a:solidFill>
            <a:srgbClr val="FDFCF9"/>
          </a:solidFill>
          <a:ln w="6350">
            <a:solidFill>
              <a:srgbClr val="D9D4C7"/>
            </a:solidFill>
            <a:prstDash val="solid"/>
          </a:ln>
        </p:spPr>
      </p:sp>
      <p:sp>
        <p:nvSpPr>
          <p:cNvPr id="8" name="Text 6"/>
          <p:cNvSpPr/>
          <p:nvPr/>
        </p:nvSpPr>
        <p:spPr>
          <a:xfrm>
            <a:off x="3679825" y="2094111"/>
            <a:ext cx="222704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80"/>
                </a:solidFill>
                <a:latin typeface="Arial" pitchFamily="34" charset="0"/>
                <a:ea typeface="Arial" pitchFamily="34" charset="-122"/>
                <a:cs typeface="Arial" pitchFamily="34" charset="-120"/>
              </a:rPr>
              <a:t>61</a:t>
            </a:r>
            <a:endParaRPr lang="en-US" sz="3600" dirty="0"/>
          </a:p>
        </p:txBody>
      </p:sp>
      <p:sp>
        <p:nvSpPr>
          <p:cNvPr id="9" name="Text 7"/>
          <p:cNvSpPr/>
          <p:nvPr/>
        </p:nvSpPr>
        <p:spPr>
          <a:xfrm>
            <a:off x="3679825" y="2647752"/>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root-cause patterns</a:t>
            </a:r>
            <a:endParaRPr lang="en-US" sz="1200" dirty="0"/>
          </a:p>
        </p:txBody>
      </p:sp>
      <p:sp>
        <p:nvSpPr>
          <p:cNvPr id="10" name="Shape 8"/>
          <p:cNvSpPr/>
          <p:nvPr/>
        </p:nvSpPr>
        <p:spPr>
          <a:xfrm>
            <a:off x="6181725" y="1913136"/>
            <a:ext cx="2524125" cy="1128911"/>
          </a:xfrm>
          <a:prstGeom prst="roundRect">
            <a:avLst>
              <a:gd name="adj" fmla="val 8719"/>
            </a:avLst>
          </a:prstGeom>
          <a:solidFill>
            <a:srgbClr val="FDFCF9"/>
          </a:solidFill>
          <a:ln w="6350">
            <a:solidFill>
              <a:srgbClr val="D9D4C7"/>
            </a:solidFill>
            <a:prstDash val="solid"/>
          </a:ln>
        </p:spPr>
      </p:sp>
      <p:sp>
        <p:nvSpPr>
          <p:cNvPr id="11" name="Text 9"/>
          <p:cNvSpPr/>
          <p:nvPr/>
        </p:nvSpPr>
        <p:spPr>
          <a:xfrm>
            <a:off x="6362700" y="2094111"/>
            <a:ext cx="222704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80"/>
                </a:solidFill>
                <a:latin typeface="Arial" pitchFamily="34" charset="0"/>
                <a:ea typeface="Arial" pitchFamily="34" charset="-122"/>
                <a:cs typeface="Arial" pitchFamily="34" charset="-120"/>
              </a:rPr>
              <a:t>81%</a:t>
            </a:r>
            <a:endParaRPr lang="en-US" sz="3600" dirty="0"/>
          </a:p>
        </p:txBody>
      </p:sp>
      <p:sp>
        <p:nvSpPr>
          <p:cNvPr id="12" name="Text 10"/>
          <p:cNvSpPr/>
          <p:nvPr/>
        </p:nvSpPr>
        <p:spPr>
          <a:xfrm>
            <a:off x="6362700" y="2647752"/>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of issues in the top 10</a:t>
            </a:r>
            <a:endParaRPr lang="en-US" sz="1200" dirty="0"/>
          </a:p>
        </p:txBody>
      </p:sp>
      <p:sp>
        <p:nvSpPr>
          <p:cNvPr id="13" name="Shape 11"/>
          <p:cNvSpPr/>
          <p:nvPr/>
        </p:nvSpPr>
        <p:spPr>
          <a:xfrm>
            <a:off x="8861425" y="1909961"/>
            <a:ext cx="2517775" cy="1135261"/>
          </a:xfrm>
          <a:prstGeom prst="roundRect">
            <a:avLst>
              <a:gd name="adj" fmla="val 8949"/>
            </a:avLst>
          </a:prstGeom>
          <a:solidFill>
            <a:srgbClr val="0F1B2D"/>
          </a:solidFill>
          <a:ln/>
        </p:spPr>
      </p:sp>
      <p:sp>
        <p:nvSpPr>
          <p:cNvPr id="14" name="Text 12"/>
          <p:cNvSpPr/>
          <p:nvPr/>
        </p:nvSpPr>
        <p:spPr>
          <a:xfrm>
            <a:off x="9039225" y="2087761"/>
            <a:ext cx="222704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8B84A"/>
                </a:solidFill>
                <a:latin typeface="Arial" pitchFamily="34" charset="0"/>
                <a:ea typeface="Arial" pitchFamily="34" charset="-122"/>
                <a:cs typeface="Arial" pitchFamily="34" charset="-120"/>
              </a:rPr>
              <a:t>58</a:t>
            </a:r>
            <a:endParaRPr lang="en-US" sz="3600" dirty="0"/>
          </a:p>
        </p:txBody>
      </p:sp>
      <p:sp>
        <p:nvSpPr>
          <p:cNvPr id="15" name="Text 13"/>
          <p:cNvSpPr/>
          <p:nvPr/>
        </p:nvSpPr>
        <p:spPr>
          <a:xfrm>
            <a:off x="9039225" y="2641402"/>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decisions to clear it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3337322"/>
          <a:ext cx="10553700" cy="1796355"/>
        </p:xfrm>
        <a:graphic>
          <a:graphicData uri="http://schemas.openxmlformats.org/drawingml/2006/table">
            <a:tbl>
              <a:tblPr/>
              <a:tblGrid>
                <a:gridCol w="5487924"/>
                <a:gridCol w="5065776"/>
              </a:tblGrid>
              <a:tr h="359271">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Pattern (example)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One click does</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ERP_B: 320 invoices with blank currency</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Use the vendor's country currency</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144 pairs: same name, phone, email domain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Merge all, now and on future loads</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106 records with city "Calcutta"</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Map to Kolkata for good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2,266 invoices: vendor not in master</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Keep quarantined; notify each owner</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B84A"/>
                </a:solidFill>
                <a:latin typeface="Arial" pitchFamily="34" charset="0"/>
                <a:ea typeface="Arial" pitchFamily="34" charset="-122"/>
                <a:cs typeface="Arial" pitchFamily="34" charset="-120"/>
              </a:rPr>
              <a:t>GOVERNANCE &amp; SECURITY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Arial" pitchFamily="34" charset="0"/>
                <a:ea typeface="Arial" pitchFamily="34" charset="-122"/>
                <a:cs typeface="Arial" pitchFamily="34" charset="-120"/>
              </a:rPr>
              <a:t>PII is protected from Bronze, not at the gate</a:t>
            </a:r>
            <a:endParaRPr lang="en-US" sz="3600" dirty="0"/>
          </a:p>
        </p:txBody>
      </p:sp>
      <p:sp>
        <p:nvSpPr>
          <p:cNvPr id="4" name="Shape 2"/>
          <p:cNvSpPr/>
          <p:nvPr/>
        </p:nvSpPr>
        <p:spPr>
          <a:xfrm>
            <a:off x="812800" y="1986161"/>
            <a:ext cx="5181600" cy="1412081"/>
          </a:xfrm>
          <a:prstGeom prst="roundRect">
            <a:avLst>
              <a:gd name="adj" fmla="val 7195"/>
            </a:avLst>
          </a:prstGeom>
          <a:solidFill>
            <a:srgbClr val="1A2A40"/>
          </a:solidFill>
          <a:ln/>
        </p:spPr>
      </p:sp>
      <p:pic>
        <p:nvPicPr>
          <p:cNvPr id="5" name="Image 0" descr="Key">    </p:cNvPr>
          <p:cNvPicPr>
            <a:picLocks noChangeAspect="1"/>
          </p:cNvPicPr>
          <p:nvPr/>
        </p:nvPicPr>
        <p:blipFill>
          <a:blip r:embed="rId1"/>
          <a:srcRect l="0" r="0" t="0" b="0"/>
          <a:stretch/>
        </p:blipFill>
        <p:spPr>
          <a:xfrm>
            <a:off x="1066800" y="2240161"/>
            <a:ext cx="304800" cy="304800"/>
          </a:xfrm>
          <a:prstGeom prst="rect">
            <a:avLst/>
          </a:prstGeom>
        </p:spPr>
      </p:pic>
      <p:sp>
        <p:nvSpPr>
          <p:cNvPr id="6" name="Text 3"/>
          <p:cNvSpPr/>
          <p:nvPr/>
        </p:nvSpPr>
        <p:spPr>
          <a:xfrm>
            <a:off x="1498600" y="2270621"/>
            <a:ext cx="261020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Tokenized at ingestion</a:t>
            </a:r>
            <a:endParaRPr lang="en-US" sz="1600" dirty="0"/>
          </a:p>
        </p:txBody>
      </p:sp>
      <p:sp>
        <p:nvSpPr>
          <p:cNvPr id="7" name="Text 4"/>
          <p:cNvSpPr/>
          <p:nvPr/>
        </p:nvSpPr>
        <p:spPr>
          <a:xfrm>
            <a:off x="1066800" y="2646561"/>
            <a:ext cx="48138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E"/>
                </a:solidFill>
                <a:latin typeface="Arial" pitchFamily="34" charset="0"/>
                <a:ea typeface="Arial" pitchFamily="34" charset="-122"/>
                <a:cs typeface="Arial" pitchFamily="34" charset="-120"/>
              </a:rPr>
              <a:t>Phone, email and bank account become keyed tokens and masked values. The key lives in Key Vault.</a:t>
            </a:r>
            <a:endParaRPr lang="en-US" sz="1400" dirty="0"/>
          </a:p>
        </p:txBody>
      </p:sp>
      <p:sp>
        <p:nvSpPr>
          <p:cNvPr id="8" name="Shape 5"/>
          <p:cNvSpPr/>
          <p:nvPr/>
        </p:nvSpPr>
        <p:spPr>
          <a:xfrm>
            <a:off x="6197600" y="1986161"/>
            <a:ext cx="5181600" cy="1412081"/>
          </a:xfrm>
          <a:prstGeom prst="roundRect">
            <a:avLst>
              <a:gd name="adj" fmla="val 7195"/>
            </a:avLst>
          </a:prstGeom>
          <a:solidFill>
            <a:srgbClr val="1A2A40"/>
          </a:solidFill>
          <a:ln/>
        </p:spPr>
      </p:sp>
      <p:pic>
        <p:nvPicPr>
          <p:cNvPr id="9" name="Image 1" descr="Lock">    </p:cNvPr>
          <p:cNvPicPr>
            <a:picLocks noChangeAspect="1"/>
          </p:cNvPicPr>
          <p:nvPr/>
        </p:nvPicPr>
        <p:blipFill>
          <a:blip r:embed="rId2"/>
          <a:srcRect l="0" r="0" t="0" b="0"/>
          <a:stretch/>
        </p:blipFill>
        <p:spPr>
          <a:xfrm>
            <a:off x="6451600" y="2240161"/>
            <a:ext cx="304800" cy="304800"/>
          </a:xfrm>
          <a:prstGeom prst="rect">
            <a:avLst/>
          </a:prstGeom>
        </p:spPr>
      </p:pic>
      <p:sp>
        <p:nvSpPr>
          <p:cNvPr id="10" name="Text 6"/>
          <p:cNvSpPr/>
          <p:nvPr/>
        </p:nvSpPr>
        <p:spPr>
          <a:xfrm>
            <a:off x="6883400" y="2270621"/>
            <a:ext cx="20329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OneLake security</a:t>
            </a:r>
            <a:endParaRPr lang="en-US" sz="1600" dirty="0"/>
          </a:p>
        </p:txBody>
      </p:sp>
      <p:sp>
        <p:nvSpPr>
          <p:cNvPr id="11" name="Text 7"/>
          <p:cNvSpPr/>
          <p:nvPr/>
        </p:nvSpPr>
        <p:spPr>
          <a:xfrm>
            <a:off x="6451600" y="2646561"/>
            <a:ext cx="48138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E"/>
                </a:solidFill>
                <a:latin typeface="Arial" pitchFamily="34" charset="0"/>
                <a:ea typeface="Arial" pitchFamily="34" charset="-122"/>
                <a:cs typeface="Arial" pitchFamily="34" charset="-120"/>
              </a:rPr>
              <a:t>Raw values sit only in a vault table that one custodian role can read.</a:t>
            </a:r>
            <a:endParaRPr lang="en-US" sz="1400" dirty="0"/>
          </a:p>
        </p:txBody>
      </p:sp>
      <p:sp>
        <p:nvSpPr>
          <p:cNvPr id="12" name="Shape 8"/>
          <p:cNvSpPr/>
          <p:nvPr/>
        </p:nvSpPr>
        <p:spPr>
          <a:xfrm>
            <a:off x="812800" y="3601442"/>
            <a:ext cx="5181600" cy="1412081"/>
          </a:xfrm>
          <a:prstGeom prst="roundRect">
            <a:avLst>
              <a:gd name="adj" fmla="val 7195"/>
            </a:avLst>
          </a:prstGeom>
          <a:solidFill>
            <a:srgbClr val="1A2A40"/>
          </a:solidFill>
          <a:ln/>
        </p:spPr>
      </p:sp>
      <p:pic>
        <p:nvPicPr>
          <p:cNvPr id="13" name="Image 2" descr="Search">    </p:cNvPr>
          <p:cNvPicPr>
            <a:picLocks noChangeAspect="1"/>
          </p:cNvPicPr>
          <p:nvPr/>
        </p:nvPicPr>
        <p:blipFill>
          <a:blip r:embed="rId3"/>
          <a:srcRect l="0" r="0" t="0" b="0"/>
          <a:stretch/>
        </p:blipFill>
        <p:spPr>
          <a:xfrm>
            <a:off x="1066800" y="3855442"/>
            <a:ext cx="304800" cy="304800"/>
          </a:xfrm>
          <a:prstGeom prst="rect">
            <a:avLst/>
          </a:prstGeom>
        </p:spPr>
      </p:pic>
      <p:sp>
        <p:nvSpPr>
          <p:cNvPr id="14" name="Text 9"/>
          <p:cNvSpPr/>
          <p:nvPr/>
        </p:nvSpPr>
        <p:spPr>
          <a:xfrm>
            <a:off x="1498600" y="3885902"/>
            <a:ext cx="28447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Matching without seeing</a:t>
            </a:r>
            <a:endParaRPr lang="en-US" sz="1600" dirty="0"/>
          </a:p>
        </p:txBody>
      </p:sp>
      <p:sp>
        <p:nvSpPr>
          <p:cNvPr id="15" name="Text 10"/>
          <p:cNvSpPr/>
          <p:nvPr/>
        </p:nvSpPr>
        <p:spPr>
          <a:xfrm>
            <a:off x="1066800" y="4261842"/>
            <a:ext cx="48138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E"/>
                </a:solidFill>
                <a:latin typeface="Arial" pitchFamily="34" charset="0"/>
                <a:ea typeface="Arial" pitchFamily="34" charset="-122"/>
                <a:cs typeface="Arial" pitchFamily="34" charset="-120"/>
              </a:rPr>
              <a:t>Dedup compares tokens; the LLM and stewards only ever see masked values.</a:t>
            </a:r>
            <a:endParaRPr lang="en-US" sz="1400" dirty="0"/>
          </a:p>
        </p:txBody>
      </p:sp>
      <p:sp>
        <p:nvSpPr>
          <p:cNvPr id="16" name="Shape 11"/>
          <p:cNvSpPr/>
          <p:nvPr/>
        </p:nvSpPr>
        <p:spPr>
          <a:xfrm>
            <a:off x="6197600" y="3601442"/>
            <a:ext cx="5181600" cy="1412081"/>
          </a:xfrm>
          <a:prstGeom prst="roundRect">
            <a:avLst>
              <a:gd name="adj" fmla="val 7195"/>
            </a:avLst>
          </a:prstGeom>
          <a:solidFill>
            <a:srgbClr val="1A2A40"/>
          </a:solidFill>
          <a:ln/>
        </p:spPr>
      </p:sp>
      <p:pic>
        <p:nvPicPr>
          <p:cNvPr id="17" name="Image 3" descr="Verified">    </p:cNvPr>
          <p:cNvPicPr>
            <a:picLocks noChangeAspect="1"/>
          </p:cNvPicPr>
          <p:nvPr/>
        </p:nvPicPr>
        <p:blipFill>
          <a:blip r:embed="rId4"/>
          <a:srcRect l="0" r="0" t="0" b="0"/>
          <a:stretch/>
        </p:blipFill>
        <p:spPr>
          <a:xfrm>
            <a:off x="6451600" y="3855442"/>
            <a:ext cx="304800" cy="304800"/>
          </a:xfrm>
          <a:prstGeom prst="rect">
            <a:avLst/>
          </a:prstGeom>
        </p:spPr>
      </p:pic>
      <p:sp>
        <p:nvSpPr>
          <p:cNvPr id="18" name="Text 12"/>
          <p:cNvSpPr/>
          <p:nvPr/>
        </p:nvSpPr>
        <p:spPr>
          <a:xfrm>
            <a:off x="6883400" y="3885902"/>
            <a:ext cx="22488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Certified, Gold only</a:t>
            </a:r>
            <a:endParaRPr lang="en-US" sz="1600" dirty="0"/>
          </a:p>
        </p:txBody>
      </p:sp>
      <p:sp>
        <p:nvSpPr>
          <p:cNvPr id="19" name="Text 13"/>
          <p:cNvSpPr/>
          <p:nvPr/>
        </p:nvSpPr>
        <p:spPr>
          <a:xfrm>
            <a:off x="6451600" y="4261842"/>
            <a:ext cx="48138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E"/>
                </a:solidFill>
                <a:latin typeface="Arial" pitchFamily="34" charset="0"/>
                <a:ea typeface="Arial" pitchFamily="34" charset="-122"/>
                <a:cs typeface="Arial" pitchFamily="34" charset="-120"/>
              </a:rPr>
              <a:t>The semantic model reads only Gold. Purview labels and lineage are added where available.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MEASURED ON THE SAME SEEDED DATASET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Native constraints vs GoldenRecord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1861"/>
          <a:ext cx="10553700" cy="2874169"/>
        </p:xfrm>
        <a:graphic>
          <a:graphicData uri="http://schemas.openxmlformats.org/drawingml/2006/table">
            <a:tbl>
              <a:tblPr/>
              <a:tblGrid>
                <a:gridCol w="3271647"/>
                <a:gridCol w="1794129"/>
                <a:gridCol w="1794129"/>
                <a:gridCol w="1899666"/>
                <a:gridCol w="1794129"/>
              </a:tblGrid>
              <a:tr h="359271">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52,438 records · 3,000 true vendors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MLV only</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Rules only</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E8B84A"/>
                          </a:solidFill>
                          <a:latin typeface="Arial" pitchFamily="34" charset="0"/>
                          <a:ea typeface="Arial" pitchFamily="34" charset="-122"/>
                          <a:cs typeface="Arial" pitchFamily="34" charset="-120"/>
                        </a:rPr>
                        <a:t>+58 decisions</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LLM per row</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Reason per bad row</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all</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all</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Records repaired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1,185</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Duplicates merged (1,743)</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1,549</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1,727</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Match recall</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0.915</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0.992</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not run</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Spend on right vendor</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split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90.5%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99.1%</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LLM calls per run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107,525</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Same output on rerun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Arial" pitchFamily="34" charset="0"/>
                <a:ea typeface="Arial" pitchFamily="34" charset="-122"/>
                <a:cs typeface="Arial" pitchFamily="34" charset="-120"/>
              </a:rPr>
              <a:t>python -m goldenrecord ablation · precision 1.00 throughout · steward simulated · LLM-per-row accuracy to be measured on AI Functions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B84A"/>
                </a:solidFill>
                <a:latin typeface="Arial" pitchFamily="34" charset="0"/>
                <a:ea typeface="Arial" pitchFamily="34" charset="-122"/>
                <a:cs typeface="Arial" pitchFamily="34" charset="-120"/>
              </a:rPr>
              <a:t>WHY US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Arial" pitchFamily="34" charset="0"/>
                <a:ea typeface="Arial" pitchFamily="34" charset="-122"/>
                <a:cs typeface="Arial" pitchFamily="34" charset="-120"/>
              </a:rPr>
              <a:t>Where similar teams will stop</a:t>
            </a:r>
            <a:endParaRPr lang="en-US" sz="3600" dirty="0"/>
          </a:p>
        </p:txBody>
      </p:sp>
      <p:sp>
        <p:nvSpPr>
          <p:cNvPr id="4" name="Shape 2"/>
          <p:cNvSpPr/>
          <p:nvPr/>
        </p:nvSpPr>
        <p:spPr>
          <a:xfrm>
            <a:off x="812800" y="1935361"/>
            <a:ext cx="3386634" cy="1495822"/>
          </a:xfrm>
          <a:prstGeom prst="roundRect">
            <a:avLst>
              <a:gd name="adj" fmla="val 6792"/>
            </a:avLst>
          </a:prstGeom>
          <a:solidFill>
            <a:srgbClr val="1A2A40"/>
          </a:solidFill>
          <a:ln/>
        </p:spPr>
      </p:sp>
      <p:sp>
        <p:nvSpPr>
          <p:cNvPr id="5" name="Text 3"/>
          <p:cNvSpPr/>
          <p:nvPr/>
        </p:nvSpPr>
        <p:spPr>
          <a:xfrm>
            <a:off x="1041400" y="2163961"/>
            <a:ext cx="30173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"Purview + MLV" teams</a:t>
            </a:r>
            <a:endParaRPr lang="en-US" sz="1600" dirty="0"/>
          </a:p>
        </p:txBody>
      </p:sp>
      <p:sp>
        <p:nvSpPr>
          <p:cNvPr id="6" name="Text 4"/>
          <p:cNvSpPr/>
          <p:nvPr/>
        </p:nvSpPr>
        <p:spPr>
          <a:xfrm>
            <a:off x="1041400" y="2509341"/>
            <a:ext cx="301731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Arial" pitchFamily="34" charset="0"/>
                <a:ea typeface="Arial" pitchFamily="34" charset="-122"/>
                <a:cs typeface="Arial" pitchFamily="34" charset="-120"/>
              </a:rPr>
              <a:t>They detect and score. They repair 0 records and merge 0 duplicates. We use the same native detection, then fix.</a:t>
            </a:r>
            <a:endParaRPr lang="en-US" sz="1300" dirty="0"/>
          </a:p>
        </p:txBody>
      </p:sp>
      <p:sp>
        <p:nvSpPr>
          <p:cNvPr id="7" name="Shape 5"/>
          <p:cNvSpPr/>
          <p:nvPr/>
        </p:nvSpPr>
        <p:spPr>
          <a:xfrm>
            <a:off x="4402634" y="1935361"/>
            <a:ext cx="3386733" cy="1495822"/>
          </a:xfrm>
          <a:prstGeom prst="roundRect">
            <a:avLst>
              <a:gd name="adj" fmla="val 6792"/>
            </a:avLst>
          </a:prstGeom>
          <a:solidFill>
            <a:srgbClr val="1A2A40"/>
          </a:solidFill>
          <a:ln/>
        </p:spPr>
      </p:sp>
      <p:sp>
        <p:nvSpPr>
          <p:cNvPr id="8" name="Text 6"/>
          <p:cNvSpPr/>
          <p:nvPr/>
        </p:nvSpPr>
        <p:spPr>
          <a:xfrm>
            <a:off x="4631234" y="2163961"/>
            <a:ext cx="30174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"LLM cleanser" teams</a:t>
            </a:r>
            <a:endParaRPr lang="en-US" sz="1600" dirty="0"/>
          </a:p>
        </p:txBody>
      </p:sp>
      <p:sp>
        <p:nvSpPr>
          <p:cNvPr id="9" name="Text 7"/>
          <p:cNvSpPr/>
          <p:nvPr/>
        </p:nvSpPr>
        <p:spPr>
          <a:xfrm>
            <a:off x="4631234" y="2509341"/>
            <a:ext cx="3017419"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Arial" pitchFamily="34" charset="0"/>
                <a:ea typeface="Arial" pitchFamily="34" charset="-122"/>
                <a:cs typeface="Arial" pitchFamily="34" charset="-120"/>
              </a:rPr>
              <a:t>107,525 AI calls a run, different answers tomorrow, nothing to audit. We call it once per pattern: 0 on a rerun.</a:t>
            </a:r>
            <a:endParaRPr lang="en-US" sz="1300" dirty="0"/>
          </a:p>
        </p:txBody>
      </p:sp>
      <p:sp>
        <p:nvSpPr>
          <p:cNvPr id="10" name="Shape 8"/>
          <p:cNvSpPr/>
          <p:nvPr/>
        </p:nvSpPr>
        <p:spPr>
          <a:xfrm>
            <a:off x="7992566" y="1935361"/>
            <a:ext cx="3386634" cy="1495822"/>
          </a:xfrm>
          <a:prstGeom prst="roundRect">
            <a:avLst>
              <a:gd name="adj" fmla="val 6792"/>
            </a:avLst>
          </a:prstGeom>
          <a:solidFill>
            <a:srgbClr val="1A2A40"/>
          </a:solidFill>
          <a:ln/>
        </p:spPr>
      </p:sp>
      <p:sp>
        <p:nvSpPr>
          <p:cNvPr id="11" name="Text 9"/>
          <p:cNvSpPr/>
          <p:nvPr/>
        </p:nvSpPr>
        <p:spPr>
          <a:xfrm>
            <a:off x="8221166" y="2163961"/>
            <a:ext cx="30173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"Fuzzy dedup" teams</a:t>
            </a:r>
            <a:endParaRPr lang="en-US" sz="1600" dirty="0"/>
          </a:p>
        </p:txBody>
      </p:sp>
      <p:sp>
        <p:nvSpPr>
          <p:cNvPr id="12" name="Text 10"/>
          <p:cNvSpPr/>
          <p:nvPr/>
        </p:nvSpPr>
        <p:spPr>
          <a:xfrm>
            <a:off x="8221166" y="2509341"/>
            <a:ext cx="301731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Arial" pitchFamily="34" charset="0"/>
                <a:ea typeface="Arial" pitchFamily="34" charset="-122"/>
                <a:cs typeface="Arial" pitchFamily="34" charset="-120"/>
              </a:rPr>
              <a:t>Duplicates found, but no survivorship, no stable keys, no explain or unmerge. Ours are reversible.</a:t>
            </a:r>
            <a:endParaRPr lang="en-US" sz="1300" dirty="0"/>
          </a:p>
        </p:txBody>
      </p:sp>
      <p:sp>
        <p:nvSpPr>
          <p:cNvPr id="13" name="Text 11"/>
          <p:cNvSpPr/>
          <p:nvPr/>
        </p:nvSpPr>
        <p:spPr>
          <a:xfrm>
            <a:off x="812800" y="373598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B84A"/>
                </a:solidFill>
                <a:latin typeface="Arial" pitchFamily="34" charset="0"/>
                <a:ea typeface="Arial" pitchFamily="34" charset="-122"/>
                <a:cs typeface="Arial" pitchFamily="34" charset="-120"/>
              </a:rPr>
              <a:t>[What we have seen in real data-quality work, in one line, from the team]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TRY TO BREAK IT</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Three failure modes, three tested answers</a:t>
            </a:r>
            <a:endParaRPr lang="en-US" sz="3600" dirty="0"/>
          </a:p>
        </p:txBody>
      </p:sp>
      <p:sp>
        <p:nvSpPr>
          <p:cNvPr id="4" name="Shape 2"/>
          <p:cNvSpPr/>
          <p:nvPr/>
        </p:nvSpPr>
        <p:spPr>
          <a:xfrm>
            <a:off x="815975" y="1938536"/>
            <a:ext cx="3380284" cy="1629271"/>
          </a:xfrm>
          <a:prstGeom prst="roundRect">
            <a:avLst>
              <a:gd name="adj" fmla="val 4482"/>
            </a:avLst>
          </a:prstGeom>
          <a:solidFill>
            <a:srgbClr val="FDFCF9"/>
          </a:solidFill>
          <a:ln w="6350">
            <a:solidFill>
              <a:srgbClr val="D9D4C7"/>
            </a:solidFill>
            <a:prstDash val="solid"/>
          </a:ln>
        </p:spPr>
      </p:sp>
      <p:sp>
        <p:nvSpPr>
          <p:cNvPr id="5" name="Text 3"/>
          <p:cNvSpPr/>
          <p:nvPr/>
        </p:nvSpPr>
        <p:spPr>
          <a:xfrm>
            <a:off x="1022350" y="2144911"/>
            <a:ext cx="30565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A wrong rule</a:t>
            </a:r>
            <a:endParaRPr lang="en-US" sz="1600" dirty="0"/>
          </a:p>
        </p:txBody>
      </p:sp>
      <p:sp>
        <p:nvSpPr>
          <p:cNvPr id="6" name="Text 4"/>
          <p:cNvSpPr/>
          <p:nvPr/>
        </p:nvSpPr>
        <p:spPr>
          <a:xfrm>
            <a:off x="1022350" y="2477591"/>
            <a:ext cx="305656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Arial" pitchFamily="34" charset="0"/>
                <a:ea typeface="Arial" pitchFamily="34" charset="-122"/>
                <a:cs typeface="Arial" pitchFamily="34" charset="-120"/>
              </a:rPr>
              <a:t>Impact preview by source. Over 5% of the table: blocked. Accepted rules start in shadow mode, quarantine nothing, and roll back by retiring a version.</a:t>
            </a:r>
            <a:endParaRPr lang="en-US" sz="1200" dirty="0"/>
          </a:p>
        </p:txBody>
      </p:sp>
      <p:sp>
        <p:nvSpPr>
          <p:cNvPr id="7" name="Shape 5"/>
          <p:cNvSpPr/>
          <p:nvPr/>
        </p:nvSpPr>
        <p:spPr>
          <a:xfrm>
            <a:off x="4405809" y="1938536"/>
            <a:ext cx="3380383" cy="1629271"/>
          </a:xfrm>
          <a:prstGeom prst="roundRect">
            <a:avLst>
              <a:gd name="adj" fmla="val 4482"/>
            </a:avLst>
          </a:prstGeom>
          <a:solidFill>
            <a:srgbClr val="FDFCF9"/>
          </a:solidFill>
          <a:ln w="6350">
            <a:solidFill>
              <a:srgbClr val="D9D4C7"/>
            </a:solidFill>
            <a:prstDash val="solid"/>
          </a:ln>
        </p:spPr>
      </p:sp>
      <p:sp>
        <p:nvSpPr>
          <p:cNvPr id="8" name="Text 6"/>
          <p:cNvSpPr/>
          <p:nvPr/>
        </p:nvSpPr>
        <p:spPr>
          <a:xfrm>
            <a:off x="4612184" y="2144911"/>
            <a:ext cx="30566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A false merge</a:t>
            </a:r>
            <a:endParaRPr lang="en-US" sz="1600" dirty="0"/>
          </a:p>
        </p:txBody>
      </p:sp>
      <p:sp>
        <p:nvSpPr>
          <p:cNvPr id="9" name="Text 7"/>
          <p:cNvSpPr/>
          <p:nvPr/>
        </p:nvSpPr>
        <p:spPr>
          <a:xfrm>
            <a:off x="4612184" y="2477591"/>
            <a:ext cx="3056662"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Arial" pitchFamily="34" charset="0"/>
                <a:ea typeface="Arial" pitchFamily="34" charset="-122"/>
                <a:cs typeface="Arial" pitchFamily="34" charset="-120"/>
              </a:rPr>
              <a:t>Flagged automatically: two tax IDs, countries or bank accounts. Explain shows who merged it. Unmerge adds a versioned cannot-link that holds forever.</a:t>
            </a:r>
            <a:endParaRPr lang="en-US" sz="1200" dirty="0"/>
          </a:p>
        </p:txBody>
      </p:sp>
      <p:sp>
        <p:nvSpPr>
          <p:cNvPr id="10" name="Shape 8"/>
          <p:cNvSpPr/>
          <p:nvPr/>
        </p:nvSpPr>
        <p:spPr>
          <a:xfrm>
            <a:off x="7995741" y="1938536"/>
            <a:ext cx="3380284" cy="1629271"/>
          </a:xfrm>
          <a:prstGeom prst="roundRect">
            <a:avLst>
              <a:gd name="adj" fmla="val 4482"/>
            </a:avLst>
          </a:prstGeom>
          <a:solidFill>
            <a:srgbClr val="FDFCF9"/>
          </a:solidFill>
          <a:ln w="6350">
            <a:solidFill>
              <a:srgbClr val="D9D4C7"/>
            </a:solidFill>
            <a:prstDash val="solid"/>
          </a:ln>
        </p:spPr>
      </p:sp>
      <p:sp>
        <p:nvSpPr>
          <p:cNvPr id="11" name="Text 9"/>
          <p:cNvSpPr/>
          <p:nvPr/>
        </p:nvSpPr>
        <p:spPr>
          <a:xfrm>
            <a:off x="8202116" y="2144911"/>
            <a:ext cx="30565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25,000 issues</a:t>
            </a:r>
            <a:endParaRPr lang="en-US" sz="1600" dirty="0"/>
          </a:p>
        </p:txBody>
      </p:sp>
      <p:sp>
        <p:nvSpPr>
          <p:cNvPr id="12" name="Text 10"/>
          <p:cNvSpPr/>
          <p:nvPr/>
        </p:nvSpPr>
        <p:spPr>
          <a:xfrm>
            <a:off x="8202116" y="2477591"/>
            <a:ext cx="305656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Arial" pitchFamily="34" charset="0"/>
                <a:ea typeface="Arial" pitchFamily="34" charset="-122"/>
                <a:cs typeface="Arial" pitchFamily="34" charset="-120"/>
              </a:rPr>
              <a:t>Grouped by root cause: 14,006 issues became 61 patterns, cleared with 58 decisions. Each decision is a versioned rule for future loads too.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TECHNOLOGY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Every component is a Fabric item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874169"/>
        </p:xfrm>
        <a:graphic>
          <a:graphicData uri="http://schemas.openxmlformats.org/drawingml/2006/table">
            <a:tbl>
              <a:tblPr/>
              <a:tblGrid>
                <a:gridCol w="2110740"/>
                <a:gridCol w="4432554"/>
                <a:gridCol w="4010406"/>
              </a:tblGrid>
              <a:tr h="359271">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Job</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Fabric service</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4EE"/>
                          </a:solidFill>
                          <a:latin typeface="Arial" pitchFamily="34" charset="0"/>
                          <a:ea typeface="Arial" pitchFamily="34" charset="-122"/>
                          <a:cs typeface="Arial" pitchFamily="34" charset="-120"/>
                        </a:rPr>
                        <a:t>Used for</a:t>
                      </a:r>
                      <a:endParaRPr lang="en-US" sz="1300" dirty="0">
                        <a:latin typeface="Arial" charset="0"/>
                        <a:ea typeface="Arial" charset="0"/>
                        <a:cs typeface="Arial" charset="0"/>
                      </a:endParaRPr>
                    </a:p>
                  </a:txBody>
                  <a:tcPr marL="57785" marR="57785" marT="57785" marB="57785"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Ingest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Data Factory pipeline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Land and orchestrate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Store, protect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OneLake, Lakehouse, OneLake security</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Medallion layers, PII vault</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Learn, resolve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Notebooks, AI Functions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Mappings once; grey-zone pairs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Detect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Materialized lake views</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Constraints, quarantine view</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Anomalies, learning</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Fabric Data Science: SynapseML, MLflow</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Isolation Forest, matcher model</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Steward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Power BI, User Data Functions, SQL database</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Translytical task flows</a:t>
                      </a:r>
                      <a:endParaRPr lang="en-US" sz="1300" dirty="0">
                        <a:latin typeface="Arial" charset="0"/>
                        <a:ea typeface="Arial" charset="0"/>
                        <a:cs typeface="Arial" charset="0"/>
                      </a:endParaRPr>
                    </a:p>
                  </a:txBody>
                  <a:tcPr marL="57785" marR="57785" marT="57785" marB="57785"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59271">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Alert, report</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Activator, Power BI (Direct Lake)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0F1B2D"/>
                          </a:solidFill>
                          <a:latin typeface="Arial" pitchFamily="34" charset="0"/>
                          <a:ea typeface="Arial" pitchFamily="34" charset="-122"/>
                          <a:cs typeface="Arial" pitchFamily="34" charset="-120"/>
                        </a:rPr>
                        <a:t>Source alerts, certified spend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Arial" pitchFamily="34" charset="0"/>
                <a:ea typeface="Arial" pitchFamily="34" charset="-122"/>
                <a:cs typeface="Arial" pitchFamily="34" charset="-120"/>
              </a:rPr>
              <a:t>Purview optional. Outside Fabric there is only an offline dev harness (Docker) running the same tested package, for development and a backup demo.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AGAINST THE BRIEF</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Every required deliverable, covered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701727"/>
        </p:xfrm>
        <a:graphic>
          <a:graphicData uri="http://schemas.openxmlformats.org/drawingml/2006/table">
            <a:tbl>
              <a:tblPr/>
              <a:tblGrid>
                <a:gridCol w="633222"/>
                <a:gridCol w="3799332"/>
                <a:gridCol w="6121146"/>
              </a:tblGrid>
              <a:tr h="385961">
                <a:tc>
                  <a:txBody>
                    <a:bodyPr/>
                    <a:lstStyle/>
                    <a:p>
                      <a:pPr indent="0" marL="0">
                        <a:lnSpc>
                          <a:spcPts val="1960"/>
                        </a:lnSpc>
                        <a:buNone/>
                      </a:pPr>
                      <a:r>
                        <a:rPr lang="en-US" sz="1400" b="1" dirty="0">
                          <a:solidFill>
                            <a:srgbClr val="F6F4EE"/>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4EE"/>
                          </a:solidFill>
                          <a:latin typeface="Arial" pitchFamily="34" charset="0"/>
                          <a:ea typeface="Arial" pitchFamily="34" charset="-122"/>
                          <a:cs typeface="Arial" pitchFamily="34" charset="-120"/>
                        </a:rPr>
                        <a:t>Brief deliverable</a:t>
                      </a:r>
                      <a:endParaRPr lang="en-US" sz="1400" dirty="0">
                        <a:latin typeface="Arial" charset="0"/>
                        <a:ea typeface="Arial" charset="0"/>
                        <a:cs typeface="Arial" charset="0"/>
                      </a:endParaRPr>
                    </a:p>
                  </a:txBody>
                  <a:tcPr marL="62230" marR="62230" marT="62230" marB="6223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4EE"/>
                          </a:solidFill>
                          <a:latin typeface="Arial" pitchFamily="34" charset="0"/>
                          <a:ea typeface="Arial" pitchFamily="34" charset="-122"/>
                          <a:cs typeface="Arial" pitchFamily="34" charset="-120"/>
                        </a:rPr>
                        <a:t>How GoldenRecord delivers it</a:t>
                      </a:r>
                      <a:endParaRPr lang="en-US" sz="1400" dirty="0">
                        <a:latin typeface="Arial" charset="0"/>
                        <a:ea typeface="Arial" charset="0"/>
                        <a:cs typeface="Arial" charset="0"/>
                      </a:endParaRPr>
                    </a:p>
                  </a:txBody>
                  <a:tcPr marL="62230" marR="62230" marT="62230" marB="6223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Fabric harmonization service</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Bronze → Silver (MLVs) → Gold, survivorship, stable keys</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LLM classification and matching</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AI Functions: decision, band, reason; once per pattern</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Human-in-the-loop review queue</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Pattern queue, translytical write-back, versioned library</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5+ DQ rules, anomaly alerts</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9 MLV constraints + Isolation Forest; Activator per source</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Sensitivity protection</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Tokenized from Bronze, OneLake security; Purview labels if available</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Certified model, spend report</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indent="0" marL="0">
                        <a:lnSpc>
                          <a:spcPts val="1960"/>
                        </a:lnSpc>
                        <a:buNone/>
                      </a:pPr>
                      <a:r>
                        <a:rPr lang="en-US" sz="1400" dirty="0">
                          <a:solidFill>
                            <a:srgbClr val="0F1B2D"/>
                          </a:solidFill>
                          <a:latin typeface="Arial" pitchFamily="34" charset="0"/>
                          <a:ea typeface="Arial" pitchFamily="34" charset="-122"/>
                          <a:cs typeface="Arial" pitchFamily="34" charset="-120"/>
                        </a:rPr>
                        <a:t>Direct Lake on gold_spend_certified only</a:t>
                      </a:r>
                      <a:endParaRPr lang="en-US" sz="1400" dirty="0">
                        <a:latin typeface="Arial" charset="0"/>
                        <a:ea typeface="Arial" charset="0"/>
                        <a:cs typeface="Arial" charset="0"/>
                      </a:endParaRPr>
                    </a:p>
                  </a:txBody>
                  <a:tcPr marL="62230" marR="62230" marT="62230" marB="62230" anchor="t">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B84A"/>
                </a:solidFill>
                <a:latin typeface="Arial" pitchFamily="34" charset="0"/>
                <a:ea typeface="Arial" pitchFamily="34" charset="-122"/>
                <a:cs typeface="Arial" pitchFamily="34" charset="-120"/>
              </a:rPr>
              <a:t>THE DEMO</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Arial" pitchFamily="34" charset="0"/>
                <a:ea typeface="Arial" pitchFamily="34" charset="-122"/>
                <a:cs typeface="Arial" pitchFamily="34" charset="-120"/>
              </a:rPr>
              <a:t>Five minutes, five moments</a:t>
            </a:r>
            <a:endParaRPr lang="en-US" sz="3600" dirty="0"/>
          </a:p>
        </p:txBody>
      </p:sp>
      <p:sp>
        <p:nvSpPr>
          <p:cNvPr id="4" name="Shape 2"/>
          <p:cNvSpPr/>
          <p:nvPr/>
        </p:nvSpPr>
        <p:spPr>
          <a:xfrm>
            <a:off x="812800" y="2036961"/>
            <a:ext cx="1991320" cy="1914922"/>
          </a:xfrm>
          <a:prstGeom prst="roundRect">
            <a:avLst>
              <a:gd name="adj" fmla="val 3979"/>
            </a:avLst>
          </a:prstGeom>
          <a:solidFill>
            <a:srgbClr val="1A2A40"/>
          </a:solidFill>
          <a:ln/>
        </p:spPr>
      </p:sp>
      <p:sp>
        <p:nvSpPr>
          <p:cNvPr id="5" name="Shape 3"/>
          <p:cNvSpPr/>
          <p:nvPr/>
        </p:nvSpPr>
        <p:spPr>
          <a:xfrm>
            <a:off x="812800" y="2036961"/>
            <a:ext cx="1991320" cy="1914922"/>
          </a:xfrm>
          <a:custGeom>
            <a:avLst/>
            <a:gdLst/>
            <a:ahLst/>
            <a:cxnLst/>
            <a:rect l="l" t="t" r="r" b="b"/>
            <a:pathLst>
              <a:path w="1991320" h="1914922">
                <a:moveTo>
                  <a:pt x="0" y="76200"/>
                </a:moveTo>
                <a:lnTo>
                  <a:pt x="0" y="76200"/>
                </a:lnTo>
                <a:arcTo hR="76200" wR="76200" stAng="10800000" swAng="5400000"/>
                <a:lnTo>
                  <a:pt x="1915120" y="0"/>
                </a:lnTo>
                <a:arcTo hR="76200" wR="76200" stAng="16200000" swAng="5400000"/>
                <a:lnTo>
                  <a:pt x="1991320" y="76200"/>
                </a:lnTo>
                <a:arcTo hR="50800" wR="76200" stAng="0" swAng="-5400000"/>
                <a:lnTo>
                  <a:pt x="76200" y="25400"/>
                </a:lnTo>
                <a:arcTo hR="50800" wR="76200" stAng="16200000" swAng="-5400000"/>
                <a:close/>
              </a:path>
            </a:pathLst>
          </a:custGeom>
          <a:solidFill>
            <a:srgbClr val="E8B84A"/>
          </a:solidFill>
          <a:ln/>
        </p:spPr>
      </p:sp>
      <p:sp>
        <p:nvSpPr>
          <p:cNvPr id="6" name="Text 4"/>
          <p:cNvSpPr/>
          <p:nvPr/>
        </p:nvSpPr>
        <p:spPr>
          <a:xfrm>
            <a:off x="990600" y="2240161"/>
            <a:ext cx="16865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0:00</a:t>
            </a:r>
            <a:endParaRPr lang="en-US" sz="1600" dirty="0"/>
          </a:p>
        </p:txBody>
      </p:sp>
      <p:sp>
        <p:nvSpPr>
          <p:cNvPr id="7" name="Text 5"/>
          <p:cNvSpPr/>
          <p:nvPr/>
        </p:nvSpPr>
        <p:spPr>
          <a:xfrm>
            <a:off x="990600" y="2600821"/>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Fabric finds it</a:t>
            </a:r>
            <a:endParaRPr lang="en-US" sz="1600" dirty="0"/>
          </a:p>
        </p:txBody>
      </p:sp>
      <p:sp>
        <p:nvSpPr>
          <p:cNvPr id="8" name="Text 6"/>
          <p:cNvSpPr/>
          <p:nvPr/>
        </p:nvSpPr>
        <p:spPr>
          <a:xfrm>
            <a:off x="990600" y="2920802"/>
            <a:ext cx="1686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MLV lineage: 12,164 rows dropped. No reasons, no fixes.</a:t>
            </a:r>
            <a:endParaRPr lang="en-US" sz="1200" dirty="0"/>
          </a:p>
        </p:txBody>
      </p:sp>
      <p:sp>
        <p:nvSpPr>
          <p:cNvPr id="9" name="Shape 7"/>
          <p:cNvSpPr/>
          <p:nvPr/>
        </p:nvSpPr>
        <p:spPr>
          <a:xfrm>
            <a:off x="2956520" y="2036961"/>
            <a:ext cx="1991420" cy="1914922"/>
          </a:xfrm>
          <a:prstGeom prst="roundRect">
            <a:avLst>
              <a:gd name="adj" fmla="val 3979"/>
            </a:avLst>
          </a:prstGeom>
          <a:solidFill>
            <a:srgbClr val="1A2A40"/>
          </a:solidFill>
          <a:ln/>
        </p:spPr>
      </p:sp>
      <p:sp>
        <p:nvSpPr>
          <p:cNvPr id="10" name="Shape 8"/>
          <p:cNvSpPr/>
          <p:nvPr/>
        </p:nvSpPr>
        <p:spPr>
          <a:xfrm>
            <a:off x="2956520" y="2036961"/>
            <a:ext cx="1991420" cy="1914922"/>
          </a:xfrm>
          <a:custGeom>
            <a:avLst/>
            <a:gdLst/>
            <a:ahLst/>
            <a:cxnLst/>
            <a:rect l="l" t="t" r="r" b="b"/>
            <a:pathLst>
              <a:path w="1991420" h="1914922">
                <a:moveTo>
                  <a:pt x="0" y="76200"/>
                </a:moveTo>
                <a:lnTo>
                  <a:pt x="0" y="76200"/>
                </a:lnTo>
                <a:arcTo hR="76200" wR="76200" stAng="10800000" swAng="5400000"/>
                <a:lnTo>
                  <a:pt x="1915220" y="0"/>
                </a:lnTo>
                <a:arcTo hR="76200" wR="76200" stAng="16200000" swAng="5400000"/>
                <a:lnTo>
                  <a:pt x="1991420" y="76200"/>
                </a:lnTo>
                <a:arcTo hR="50800" wR="76200" stAng="0" swAng="-5400000"/>
                <a:lnTo>
                  <a:pt x="76200" y="25400"/>
                </a:lnTo>
                <a:arcTo hR="50800" wR="76200" stAng="16200000" swAng="-5400000"/>
                <a:close/>
              </a:path>
            </a:pathLst>
          </a:custGeom>
          <a:solidFill>
            <a:srgbClr val="E8B84A"/>
          </a:solidFill>
          <a:ln/>
        </p:spPr>
      </p:sp>
      <p:sp>
        <p:nvSpPr>
          <p:cNvPr id="11" name="Text 9"/>
          <p:cNvSpPr/>
          <p:nvPr/>
        </p:nvSpPr>
        <p:spPr>
          <a:xfrm>
            <a:off x="3134320" y="2240161"/>
            <a:ext cx="16866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1:00</a:t>
            </a:r>
            <a:endParaRPr lang="en-US" sz="1600" dirty="0"/>
          </a:p>
        </p:txBody>
      </p:sp>
      <p:sp>
        <p:nvSpPr>
          <p:cNvPr id="12" name="Text 10"/>
          <p:cNvSpPr/>
          <p:nvPr/>
        </p:nvSpPr>
        <p:spPr>
          <a:xfrm>
            <a:off x="3134320" y="2600821"/>
            <a:ext cx="1686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We explain it</a:t>
            </a:r>
            <a:endParaRPr lang="en-US" sz="1600" dirty="0"/>
          </a:p>
        </p:txBody>
      </p:sp>
      <p:sp>
        <p:nvSpPr>
          <p:cNvPr id="13" name="Text 11"/>
          <p:cNvSpPr/>
          <p:nvPr/>
        </p:nvSpPr>
        <p:spPr>
          <a:xfrm>
            <a:off x="3134320" y="2920802"/>
            <a:ext cx="168662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Same rows, quarantined with reasons: 14,006 issues, 61 patterns.</a:t>
            </a:r>
            <a:endParaRPr lang="en-US" sz="1200" dirty="0"/>
          </a:p>
        </p:txBody>
      </p:sp>
      <p:sp>
        <p:nvSpPr>
          <p:cNvPr id="14" name="Shape 12"/>
          <p:cNvSpPr/>
          <p:nvPr/>
        </p:nvSpPr>
        <p:spPr>
          <a:xfrm>
            <a:off x="5100340" y="2036961"/>
            <a:ext cx="1991320" cy="1914922"/>
          </a:xfrm>
          <a:prstGeom prst="roundRect">
            <a:avLst>
              <a:gd name="adj" fmla="val 3979"/>
            </a:avLst>
          </a:prstGeom>
          <a:solidFill>
            <a:srgbClr val="1A2A40"/>
          </a:solidFill>
          <a:ln/>
        </p:spPr>
      </p:sp>
      <p:sp>
        <p:nvSpPr>
          <p:cNvPr id="15" name="Shape 13"/>
          <p:cNvSpPr/>
          <p:nvPr/>
        </p:nvSpPr>
        <p:spPr>
          <a:xfrm>
            <a:off x="5100340" y="2036961"/>
            <a:ext cx="1991320" cy="1914922"/>
          </a:xfrm>
          <a:custGeom>
            <a:avLst/>
            <a:gdLst/>
            <a:ahLst/>
            <a:cxnLst/>
            <a:rect l="l" t="t" r="r" b="b"/>
            <a:pathLst>
              <a:path w="1991320" h="1914922">
                <a:moveTo>
                  <a:pt x="0" y="76200"/>
                </a:moveTo>
                <a:lnTo>
                  <a:pt x="0" y="76200"/>
                </a:lnTo>
                <a:arcTo hR="76200" wR="76200" stAng="10800000" swAng="5400000"/>
                <a:lnTo>
                  <a:pt x="1915120" y="0"/>
                </a:lnTo>
                <a:arcTo hR="76200" wR="76200" stAng="16200000" swAng="5400000"/>
                <a:lnTo>
                  <a:pt x="1991320" y="76200"/>
                </a:lnTo>
                <a:arcTo hR="50800" wR="76200" stAng="0" swAng="-5400000"/>
                <a:lnTo>
                  <a:pt x="76200" y="25400"/>
                </a:lnTo>
                <a:arcTo hR="50800" wR="76200" stAng="16200000" swAng="-5400000"/>
                <a:close/>
              </a:path>
            </a:pathLst>
          </a:custGeom>
          <a:solidFill>
            <a:srgbClr val="E8B84A"/>
          </a:solidFill>
          <a:ln/>
        </p:spPr>
      </p:sp>
      <p:sp>
        <p:nvSpPr>
          <p:cNvPr id="16" name="Text 14"/>
          <p:cNvSpPr/>
          <p:nvPr/>
        </p:nvSpPr>
        <p:spPr>
          <a:xfrm>
            <a:off x="5278140" y="2240161"/>
            <a:ext cx="16865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2:00</a:t>
            </a:r>
            <a:endParaRPr lang="en-US" sz="1600" dirty="0"/>
          </a:p>
        </p:txBody>
      </p:sp>
      <p:sp>
        <p:nvSpPr>
          <p:cNvPr id="17" name="Text 15"/>
          <p:cNvSpPr/>
          <p:nvPr/>
        </p:nvSpPr>
        <p:spPr>
          <a:xfrm>
            <a:off x="5278140" y="2600821"/>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One click</a:t>
            </a:r>
            <a:endParaRPr lang="en-US" sz="1600" dirty="0"/>
          </a:p>
        </p:txBody>
      </p:sp>
      <p:sp>
        <p:nvSpPr>
          <p:cNvPr id="18" name="Text 16"/>
          <p:cNvSpPr/>
          <p:nvPr/>
        </p:nvSpPr>
        <p:spPr>
          <a:xfrm>
            <a:off x="5278140" y="2920802"/>
            <a:ext cx="1686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Approve a pattern in Power BI; 320 invoices fixed on the rerun.</a:t>
            </a:r>
            <a:endParaRPr lang="en-US" sz="1200" dirty="0"/>
          </a:p>
        </p:txBody>
      </p:sp>
      <p:sp>
        <p:nvSpPr>
          <p:cNvPr id="19" name="Shape 17"/>
          <p:cNvSpPr/>
          <p:nvPr/>
        </p:nvSpPr>
        <p:spPr>
          <a:xfrm>
            <a:off x="7244060" y="2036961"/>
            <a:ext cx="1991420" cy="1914922"/>
          </a:xfrm>
          <a:prstGeom prst="roundRect">
            <a:avLst>
              <a:gd name="adj" fmla="val 3979"/>
            </a:avLst>
          </a:prstGeom>
          <a:solidFill>
            <a:srgbClr val="1A2A40"/>
          </a:solidFill>
          <a:ln/>
        </p:spPr>
      </p:sp>
      <p:sp>
        <p:nvSpPr>
          <p:cNvPr id="20" name="Shape 18"/>
          <p:cNvSpPr/>
          <p:nvPr/>
        </p:nvSpPr>
        <p:spPr>
          <a:xfrm>
            <a:off x="7244060" y="2036961"/>
            <a:ext cx="1991420" cy="1914922"/>
          </a:xfrm>
          <a:custGeom>
            <a:avLst/>
            <a:gdLst/>
            <a:ahLst/>
            <a:cxnLst/>
            <a:rect l="l" t="t" r="r" b="b"/>
            <a:pathLst>
              <a:path w="1991420" h="1914922">
                <a:moveTo>
                  <a:pt x="0" y="76200"/>
                </a:moveTo>
                <a:lnTo>
                  <a:pt x="0" y="76200"/>
                </a:lnTo>
                <a:arcTo hR="76200" wR="76200" stAng="10800000" swAng="5400000"/>
                <a:lnTo>
                  <a:pt x="1915220" y="0"/>
                </a:lnTo>
                <a:arcTo hR="76200" wR="76200" stAng="16200000" swAng="5400000"/>
                <a:lnTo>
                  <a:pt x="1991420" y="76200"/>
                </a:lnTo>
                <a:arcTo hR="50800" wR="76200" stAng="0" swAng="-5400000"/>
                <a:lnTo>
                  <a:pt x="76200" y="25400"/>
                </a:lnTo>
                <a:arcTo hR="50800" wR="76200" stAng="16200000" swAng="-5400000"/>
                <a:close/>
              </a:path>
            </a:pathLst>
          </a:custGeom>
          <a:solidFill>
            <a:srgbClr val="E8B84A"/>
          </a:solidFill>
          <a:ln/>
        </p:spPr>
      </p:sp>
      <p:sp>
        <p:nvSpPr>
          <p:cNvPr id="21" name="Text 19"/>
          <p:cNvSpPr/>
          <p:nvPr/>
        </p:nvSpPr>
        <p:spPr>
          <a:xfrm>
            <a:off x="7421860" y="2240161"/>
            <a:ext cx="16866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3:00</a:t>
            </a:r>
            <a:endParaRPr lang="en-US" sz="1600" dirty="0"/>
          </a:p>
        </p:txBody>
      </p:sp>
      <p:sp>
        <p:nvSpPr>
          <p:cNvPr id="22" name="Text 20"/>
          <p:cNvSpPr/>
          <p:nvPr/>
        </p:nvSpPr>
        <p:spPr>
          <a:xfrm>
            <a:off x="7421860" y="2600821"/>
            <a:ext cx="1686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Break it</a:t>
            </a:r>
            <a:endParaRPr lang="en-US" sz="1600" dirty="0"/>
          </a:p>
        </p:txBody>
      </p:sp>
      <p:sp>
        <p:nvSpPr>
          <p:cNvPr id="23" name="Text 21"/>
          <p:cNvSpPr/>
          <p:nvPr/>
        </p:nvSpPr>
        <p:spPr>
          <a:xfrm>
            <a:off x="7421860" y="2920802"/>
            <a:ext cx="16866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A judge types a bad rule: blocked. Unmerge a false merge.</a:t>
            </a:r>
            <a:endParaRPr lang="en-US" sz="1200" dirty="0"/>
          </a:p>
        </p:txBody>
      </p:sp>
      <p:sp>
        <p:nvSpPr>
          <p:cNvPr id="24" name="Shape 22"/>
          <p:cNvSpPr/>
          <p:nvPr/>
        </p:nvSpPr>
        <p:spPr>
          <a:xfrm>
            <a:off x="9387880" y="2036961"/>
            <a:ext cx="1991320" cy="1914922"/>
          </a:xfrm>
          <a:prstGeom prst="roundRect">
            <a:avLst>
              <a:gd name="adj" fmla="val 3979"/>
            </a:avLst>
          </a:prstGeom>
          <a:solidFill>
            <a:srgbClr val="1A2A40"/>
          </a:solidFill>
          <a:ln/>
        </p:spPr>
      </p:sp>
      <p:sp>
        <p:nvSpPr>
          <p:cNvPr id="25" name="Shape 23"/>
          <p:cNvSpPr/>
          <p:nvPr/>
        </p:nvSpPr>
        <p:spPr>
          <a:xfrm>
            <a:off x="9387880" y="2036961"/>
            <a:ext cx="1991320" cy="1914922"/>
          </a:xfrm>
          <a:custGeom>
            <a:avLst/>
            <a:gdLst/>
            <a:ahLst/>
            <a:cxnLst/>
            <a:rect l="l" t="t" r="r" b="b"/>
            <a:pathLst>
              <a:path w="1991320" h="1914922">
                <a:moveTo>
                  <a:pt x="0" y="76200"/>
                </a:moveTo>
                <a:lnTo>
                  <a:pt x="0" y="76200"/>
                </a:lnTo>
                <a:arcTo hR="76200" wR="76200" stAng="10800000" swAng="5400000"/>
                <a:lnTo>
                  <a:pt x="1915120" y="0"/>
                </a:lnTo>
                <a:arcTo hR="76200" wR="76200" stAng="16200000" swAng="5400000"/>
                <a:lnTo>
                  <a:pt x="1991320" y="76200"/>
                </a:lnTo>
                <a:arcTo hR="50800" wR="76200" stAng="0" swAng="-5400000"/>
                <a:lnTo>
                  <a:pt x="76200" y="25400"/>
                </a:lnTo>
                <a:arcTo hR="50800" wR="76200" stAng="16200000" swAng="-5400000"/>
                <a:close/>
              </a:path>
            </a:pathLst>
          </a:custGeom>
          <a:solidFill>
            <a:srgbClr val="E8B84A"/>
          </a:solidFill>
          <a:ln/>
        </p:spPr>
      </p:sp>
      <p:sp>
        <p:nvSpPr>
          <p:cNvPr id="26" name="Text 24"/>
          <p:cNvSpPr/>
          <p:nvPr/>
        </p:nvSpPr>
        <p:spPr>
          <a:xfrm>
            <a:off x="9565680" y="2240161"/>
            <a:ext cx="16865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B84A"/>
                </a:solidFill>
                <a:latin typeface="Arial" pitchFamily="34" charset="0"/>
                <a:ea typeface="Arial" pitchFamily="34" charset="-122"/>
                <a:cs typeface="Arial" pitchFamily="34" charset="-120"/>
              </a:rPr>
              <a:t>4:00</a:t>
            </a:r>
            <a:endParaRPr lang="en-US" sz="1600" dirty="0"/>
          </a:p>
        </p:txBody>
      </p:sp>
      <p:sp>
        <p:nvSpPr>
          <p:cNvPr id="27" name="Text 25"/>
          <p:cNvSpPr/>
          <p:nvPr/>
        </p:nvSpPr>
        <p:spPr>
          <a:xfrm>
            <a:off x="9565680" y="2600821"/>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Money</a:t>
            </a:r>
            <a:endParaRPr lang="en-US" sz="1600" dirty="0"/>
          </a:p>
        </p:txBody>
      </p:sp>
      <p:sp>
        <p:nvSpPr>
          <p:cNvPr id="28" name="Text 26"/>
          <p:cNvSpPr/>
          <p:nvPr/>
        </p:nvSpPr>
        <p:spPr>
          <a:xfrm>
            <a:off x="9565680" y="2920802"/>
            <a:ext cx="1686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Certified spend, 99.1% on the right vendor; Activator alert.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THE TEAM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Team GoldenRecord</a:t>
            </a:r>
            <a:endParaRPr lang="en-US" sz="3600" dirty="0"/>
          </a:p>
        </p:txBody>
      </p:sp>
      <p:sp>
        <p:nvSpPr>
          <p:cNvPr id="4" name="Shape 2"/>
          <p:cNvSpPr/>
          <p:nvPr/>
        </p:nvSpPr>
        <p:spPr>
          <a:xfrm>
            <a:off x="812800" y="1935361"/>
            <a:ext cx="3420467" cy="1366341"/>
          </a:xfrm>
          <a:prstGeom prst="roundRect">
            <a:avLst>
              <a:gd name="adj" fmla="val 7436"/>
            </a:avLst>
          </a:prstGeom>
          <a:solidFill>
            <a:srgbClr val="0F1B2D"/>
          </a:solidFill>
          <a:ln/>
        </p:spPr>
      </p:sp>
      <p:sp>
        <p:nvSpPr>
          <p:cNvPr id="5" name="Text 3"/>
          <p:cNvSpPr/>
          <p:nvPr/>
        </p:nvSpPr>
        <p:spPr>
          <a:xfrm>
            <a:off x="1016000" y="2113161"/>
            <a:ext cx="310448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Arial" pitchFamily="34" charset="0"/>
                <a:ea typeface="Arial" pitchFamily="34" charset="-122"/>
                <a:cs typeface="Arial" pitchFamily="34" charset="-120"/>
              </a:rPr>
              <a:t>Vinod Atmakur</a:t>
            </a:r>
            <a:endParaRPr lang="en-US" sz="1600" dirty="0"/>
          </a:p>
        </p:txBody>
      </p:sp>
      <p:sp>
        <p:nvSpPr>
          <p:cNvPr id="6" name="Text 4"/>
          <p:cNvSpPr/>
          <p:nvPr/>
        </p:nvSpPr>
        <p:spPr>
          <a:xfrm>
            <a:off x="1016000" y="2420441"/>
            <a:ext cx="31044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84A"/>
                </a:solidFill>
                <a:latin typeface="Arial" pitchFamily="34" charset="0"/>
                <a:ea typeface="Arial" pitchFamily="34" charset="-122"/>
                <a:cs typeface="Arial" pitchFamily="34" charset="-120"/>
              </a:rPr>
              <a:t>Product owner &amp; quality architect</a:t>
            </a:r>
            <a:endParaRPr lang="en-US" sz="1200" dirty="0"/>
          </a:p>
        </p:txBody>
      </p:sp>
      <p:sp>
        <p:nvSpPr>
          <p:cNvPr id="7" name="Text 5"/>
          <p:cNvSpPr/>
          <p:nvPr/>
        </p:nvSpPr>
        <p:spPr>
          <a:xfrm>
            <a:off x="1016000" y="2697262"/>
            <a:ext cx="31044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E"/>
                </a:solidFill>
                <a:latin typeface="Arial" pitchFamily="34" charset="0"/>
                <a:ea typeface="Arial" pitchFamily="34" charset="-122"/>
                <a:cs typeface="Arial" pitchFamily="34" charset="-120"/>
              </a:rPr>
              <a:t>20+ years in delivery and quality architecture: payments, fintech, healthcare</a:t>
            </a:r>
            <a:endParaRPr lang="en-US" sz="1200" dirty="0"/>
          </a:p>
        </p:txBody>
      </p:sp>
      <p:sp>
        <p:nvSpPr>
          <p:cNvPr id="8" name="Shape 6"/>
          <p:cNvSpPr/>
          <p:nvPr/>
        </p:nvSpPr>
        <p:spPr>
          <a:xfrm>
            <a:off x="4388842" y="1938536"/>
            <a:ext cx="3414216" cy="1359991"/>
          </a:xfrm>
          <a:prstGeom prst="roundRect">
            <a:avLst>
              <a:gd name="adj" fmla="val 7237"/>
            </a:avLst>
          </a:prstGeom>
          <a:solidFill>
            <a:srgbClr val="FDFCF9"/>
          </a:solidFill>
          <a:ln w="6350">
            <a:solidFill>
              <a:srgbClr val="D9D4C7"/>
            </a:solidFill>
            <a:prstDash val="solid"/>
          </a:ln>
        </p:spPr>
      </p:sp>
      <p:sp>
        <p:nvSpPr>
          <p:cNvPr id="9" name="Text 7"/>
          <p:cNvSpPr/>
          <p:nvPr/>
        </p:nvSpPr>
        <p:spPr>
          <a:xfrm>
            <a:off x="4595217" y="21195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Anand Topu</a:t>
            </a:r>
            <a:endParaRPr lang="en-US" sz="1600" dirty="0"/>
          </a:p>
        </p:txBody>
      </p:sp>
      <p:sp>
        <p:nvSpPr>
          <p:cNvPr id="10" name="Text 8"/>
          <p:cNvSpPr/>
          <p:nvPr/>
        </p:nvSpPr>
        <p:spPr>
          <a:xfrm>
            <a:off x="4595217" y="24267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F00"/>
                </a:solidFill>
                <a:latin typeface="Arial" pitchFamily="34" charset="0"/>
                <a:ea typeface="Arial" pitchFamily="34" charset="-122"/>
                <a:cs typeface="Arial" pitchFamily="34" charset="-120"/>
              </a:rPr>
              <a:t>AI Engineer</a:t>
            </a:r>
            <a:endParaRPr lang="en-US" sz="1200" dirty="0"/>
          </a:p>
        </p:txBody>
      </p:sp>
      <p:sp>
        <p:nvSpPr>
          <p:cNvPr id="11" name="Text 9"/>
          <p:cNvSpPr/>
          <p:nvPr/>
        </p:nvSpPr>
        <p:spPr>
          <a:xfrm>
            <a:off x="4595217" y="270361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[One line of relevant experience]</a:t>
            </a:r>
            <a:endParaRPr lang="en-US" sz="1200" dirty="0"/>
          </a:p>
        </p:txBody>
      </p:sp>
      <p:sp>
        <p:nvSpPr>
          <p:cNvPr id="12" name="Shape 10"/>
          <p:cNvSpPr/>
          <p:nvPr/>
        </p:nvSpPr>
        <p:spPr>
          <a:xfrm>
            <a:off x="7961809" y="1938536"/>
            <a:ext cx="3414216" cy="1359991"/>
          </a:xfrm>
          <a:prstGeom prst="roundRect">
            <a:avLst>
              <a:gd name="adj" fmla="val 7237"/>
            </a:avLst>
          </a:prstGeom>
          <a:solidFill>
            <a:srgbClr val="FDFCF9"/>
          </a:solidFill>
          <a:ln w="6350">
            <a:solidFill>
              <a:srgbClr val="D9D4C7"/>
            </a:solidFill>
            <a:prstDash val="solid"/>
          </a:ln>
        </p:spPr>
      </p:sp>
      <p:sp>
        <p:nvSpPr>
          <p:cNvPr id="13" name="Text 11"/>
          <p:cNvSpPr/>
          <p:nvPr/>
        </p:nvSpPr>
        <p:spPr>
          <a:xfrm>
            <a:off x="8168184" y="21195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Yogesh Godwade</a:t>
            </a:r>
            <a:endParaRPr lang="en-US" sz="1600" dirty="0"/>
          </a:p>
        </p:txBody>
      </p:sp>
      <p:sp>
        <p:nvSpPr>
          <p:cNvPr id="14" name="Text 12"/>
          <p:cNvSpPr/>
          <p:nvPr/>
        </p:nvSpPr>
        <p:spPr>
          <a:xfrm>
            <a:off x="8168184" y="24267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F00"/>
                </a:solidFill>
                <a:latin typeface="Arial" pitchFamily="34" charset="0"/>
                <a:ea typeface="Arial" pitchFamily="34" charset="-122"/>
                <a:cs typeface="Arial" pitchFamily="34" charset="-120"/>
              </a:rPr>
              <a:t>AI Engineer</a:t>
            </a:r>
            <a:endParaRPr lang="en-US" sz="1200" dirty="0"/>
          </a:p>
        </p:txBody>
      </p:sp>
      <p:sp>
        <p:nvSpPr>
          <p:cNvPr id="15" name="Text 13"/>
          <p:cNvSpPr/>
          <p:nvPr/>
        </p:nvSpPr>
        <p:spPr>
          <a:xfrm>
            <a:off x="8168184" y="270361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[One line of relevant experience]</a:t>
            </a:r>
            <a:endParaRPr lang="en-US" sz="1200" dirty="0"/>
          </a:p>
        </p:txBody>
      </p:sp>
      <p:sp>
        <p:nvSpPr>
          <p:cNvPr id="16" name="Shape 14"/>
          <p:cNvSpPr/>
          <p:nvPr/>
        </p:nvSpPr>
        <p:spPr>
          <a:xfrm>
            <a:off x="815975" y="3457277"/>
            <a:ext cx="3414117" cy="1159371"/>
          </a:xfrm>
          <a:prstGeom prst="roundRect">
            <a:avLst>
              <a:gd name="adj" fmla="val 8490"/>
            </a:avLst>
          </a:prstGeom>
          <a:solidFill>
            <a:srgbClr val="FDFCF9"/>
          </a:solidFill>
          <a:ln w="6350">
            <a:solidFill>
              <a:srgbClr val="D9D4C7"/>
            </a:solidFill>
            <a:prstDash val="solid"/>
          </a:ln>
        </p:spPr>
      </p:sp>
      <p:sp>
        <p:nvSpPr>
          <p:cNvPr id="17" name="Text 15"/>
          <p:cNvSpPr/>
          <p:nvPr/>
        </p:nvSpPr>
        <p:spPr>
          <a:xfrm>
            <a:off x="1022350" y="3638252"/>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Koushik Das</a:t>
            </a:r>
            <a:endParaRPr lang="en-US" sz="1600" dirty="0"/>
          </a:p>
        </p:txBody>
      </p:sp>
      <p:sp>
        <p:nvSpPr>
          <p:cNvPr id="18" name="Text 16"/>
          <p:cNvSpPr/>
          <p:nvPr/>
        </p:nvSpPr>
        <p:spPr>
          <a:xfrm>
            <a:off x="1022350" y="3945533"/>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F00"/>
                </a:solidFill>
                <a:latin typeface="Arial" pitchFamily="34" charset="0"/>
                <a:ea typeface="Arial" pitchFamily="34" charset="-122"/>
                <a:cs typeface="Arial" pitchFamily="34" charset="-120"/>
              </a:rPr>
              <a:t>AI Engineer</a:t>
            </a:r>
            <a:endParaRPr lang="en-US" sz="1200" dirty="0"/>
          </a:p>
        </p:txBody>
      </p:sp>
      <p:sp>
        <p:nvSpPr>
          <p:cNvPr id="19" name="Text 17"/>
          <p:cNvSpPr/>
          <p:nvPr/>
        </p:nvSpPr>
        <p:spPr>
          <a:xfrm>
            <a:off x="1022350" y="4222353"/>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[One line of relevant experience]</a:t>
            </a:r>
            <a:endParaRPr lang="en-US" sz="1200" dirty="0"/>
          </a:p>
        </p:txBody>
      </p:sp>
      <p:sp>
        <p:nvSpPr>
          <p:cNvPr id="20" name="Shape 18"/>
          <p:cNvSpPr/>
          <p:nvPr/>
        </p:nvSpPr>
        <p:spPr>
          <a:xfrm>
            <a:off x="4388842" y="3457277"/>
            <a:ext cx="3414216" cy="1159371"/>
          </a:xfrm>
          <a:prstGeom prst="roundRect">
            <a:avLst>
              <a:gd name="adj" fmla="val 8490"/>
            </a:avLst>
          </a:prstGeom>
          <a:solidFill>
            <a:srgbClr val="FDFCF9"/>
          </a:solidFill>
          <a:ln w="6350">
            <a:solidFill>
              <a:srgbClr val="D9D4C7"/>
            </a:solidFill>
            <a:prstDash val="solid"/>
          </a:ln>
        </p:spPr>
      </p:sp>
      <p:sp>
        <p:nvSpPr>
          <p:cNvPr id="21" name="Text 19"/>
          <p:cNvSpPr/>
          <p:nvPr/>
        </p:nvSpPr>
        <p:spPr>
          <a:xfrm>
            <a:off x="4595217" y="363825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Ravi Chander Kanikala</a:t>
            </a:r>
            <a:endParaRPr lang="en-US" sz="1600" dirty="0"/>
          </a:p>
        </p:txBody>
      </p:sp>
      <p:sp>
        <p:nvSpPr>
          <p:cNvPr id="22" name="Text 20"/>
          <p:cNvSpPr/>
          <p:nvPr/>
        </p:nvSpPr>
        <p:spPr>
          <a:xfrm>
            <a:off x="4595217" y="394553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F00"/>
                </a:solidFill>
                <a:latin typeface="Arial" pitchFamily="34" charset="0"/>
                <a:ea typeface="Arial" pitchFamily="34" charset="-122"/>
                <a:cs typeface="Arial" pitchFamily="34" charset="-120"/>
              </a:rPr>
              <a:t>AI Engineer</a:t>
            </a:r>
            <a:endParaRPr lang="en-US" sz="1200" dirty="0"/>
          </a:p>
        </p:txBody>
      </p:sp>
      <p:sp>
        <p:nvSpPr>
          <p:cNvPr id="23" name="Text 21"/>
          <p:cNvSpPr/>
          <p:nvPr/>
        </p:nvSpPr>
        <p:spPr>
          <a:xfrm>
            <a:off x="4595217" y="422235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[One line of relevant experience]</a:t>
            </a:r>
            <a:endParaRPr lang="en-US" sz="1200" dirty="0"/>
          </a:p>
        </p:txBody>
      </p:sp>
      <p:sp>
        <p:nvSpPr>
          <p:cNvPr id="24" name="Shape 22"/>
          <p:cNvSpPr/>
          <p:nvPr/>
        </p:nvSpPr>
        <p:spPr>
          <a:xfrm>
            <a:off x="7961809" y="3457277"/>
            <a:ext cx="3414216" cy="1159371"/>
          </a:xfrm>
          <a:prstGeom prst="roundRect">
            <a:avLst>
              <a:gd name="adj" fmla="val 8490"/>
            </a:avLst>
          </a:prstGeom>
          <a:solidFill>
            <a:srgbClr val="FDFCF9"/>
          </a:solidFill>
          <a:ln w="6350">
            <a:solidFill>
              <a:srgbClr val="D9D4C7"/>
            </a:solidFill>
            <a:prstDash val="solid"/>
          </a:ln>
        </p:spPr>
      </p:sp>
      <p:sp>
        <p:nvSpPr>
          <p:cNvPr id="25" name="Text 23"/>
          <p:cNvSpPr/>
          <p:nvPr/>
        </p:nvSpPr>
        <p:spPr>
          <a:xfrm>
            <a:off x="8168184" y="363825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Dilip Divakaran</a:t>
            </a:r>
            <a:endParaRPr lang="en-US" sz="1600" dirty="0"/>
          </a:p>
        </p:txBody>
      </p:sp>
      <p:sp>
        <p:nvSpPr>
          <p:cNvPr id="26" name="Text 24"/>
          <p:cNvSpPr/>
          <p:nvPr/>
        </p:nvSpPr>
        <p:spPr>
          <a:xfrm>
            <a:off x="8168184" y="394553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F00"/>
                </a:solidFill>
                <a:latin typeface="Arial" pitchFamily="34" charset="0"/>
                <a:ea typeface="Arial" pitchFamily="34" charset="-122"/>
                <a:cs typeface="Arial" pitchFamily="34" charset="-120"/>
              </a:rPr>
              <a:t>AI Engineer</a:t>
            </a:r>
            <a:endParaRPr lang="en-US" sz="1200" dirty="0"/>
          </a:p>
        </p:txBody>
      </p:sp>
      <p:sp>
        <p:nvSpPr>
          <p:cNvPr id="27" name="Text 25"/>
          <p:cNvSpPr/>
          <p:nvPr/>
        </p:nvSpPr>
        <p:spPr>
          <a:xfrm>
            <a:off x="8168184" y="422235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Arial" pitchFamily="34" charset="0"/>
                <a:ea typeface="Arial" pitchFamily="34" charset="-122"/>
                <a:cs typeface="Arial" pitchFamily="34" charset="-120"/>
              </a:rPr>
              <a:t>[One line of relevant experience]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F00"/>
                </a:solidFill>
                <a:latin typeface="Arial" pitchFamily="34" charset="0"/>
                <a:ea typeface="Arial" pitchFamily="34" charset="-122"/>
                <a:cs typeface="Arial" pitchFamily="34" charset="-120"/>
              </a:rPr>
              <a:t>BUILD PLAN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Arial" pitchFamily="34" charset="0"/>
                <a:ea typeface="Arial" pitchFamily="34" charset="-122"/>
                <a:cs typeface="Arial" pitchFamily="34" charset="-120"/>
              </a:rPr>
              <a:t>Two weeks, four sprints</a:t>
            </a:r>
            <a:endParaRPr lang="en-US" sz="3600" dirty="0"/>
          </a:p>
        </p:txBody>
      </p:sp>
      <p:sp>
        <p:nvSpPr>
          <p:cNvPr id="4" name="Shape 2"/>
          <p:cNvSpPr/>
          <p:nvPr/>
        </p:nvSpPr>
        <p:spPr>
          <a:xfrm>
            <a:off x="815975" y="1989336"/>
            <a:ext cx="2520950" cy="2216051"/>
          </a:xfrm>
          <a:prstGeom prst="roundRect">
            <a:avLst>
              <a:gd name="adj" fmla="val 3295"/>
            </a:avLst>
          </a:prstGeom>
          <a:solidFill>
            <a:srgbClr val="FDFCF9"/>
          </a:solidFill>
          <a:ln w="6350">
            <a:solidFill>
              <a:srgbClr val="D9D4C7"/>
            </a:solidFill>
            <a:prstDash val="solid"/>
          </a:ln>
        </p:spPr>
      </p:sp>
      <p:sp>
        <p:nvSpPr>
          <p:cNvPr id="5" name="Text 3"/>
          <p:cNvSpPr/>
          <p:nvPr/>
        </p:nvSpPr>
        <p:spPr>
          <a:xfrm>
            <a:off x="1022350" y="21957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0"/>
                </a:solidFill>
                <a:latin typeface="Arial" pitchFamily="34" charset="0"/>
                <a:ea typeface="Arial" pitchFamily="34" charset="-122"/>
                <a:cs typeface="Arial" pitchFamily="34" charset="-120"/>
              </a:rPr>
              <a:t>DAYS 1–3</a:t>
            </a:r>
            <a:endParaRPr lang="en-US" sz="1200" dirty="0"/>
          </a:p>
        </p:txBody>
      </p:sp>
      <p:sp>
        <p:nvSpPr>
          <p:cNvPr id="6" name="Text 4"/>
          <p:cNvSpPr/>
          <p:nvPr/>
        </p:nvSpPr>
        <p:spPr>
          <a:xfrm>
            <a:off x="1022350" y="2510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Foundation</a:t>
            </a:r>
            <a:endParaRPr lang="en-US" sz="1600" dirty="0"/>
          </a:p>
        </p:txBody>
      </p:sp>
      <p:sp>
        <p:nvSpPr>
          <p:cNvPr id="7" name="Text 5"/>
          <p:cNvSpPr/>
          <p:nvPr/>
        </p:nvSpPr>
        <p:spPr>
          <a:xfrm>
            <a:off x="1133856" y="2856012"/>
            <a:ext cx="2052320" cy="11684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Tested core and agents (done)</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Workspace, Lakehouse, Key Vault</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Bronze with tokenized PII</a:t>
            </a:r>
            <a:endParaRPr lang="en-US" sz="1200" dirty="0"/>
          </a:p>
        </p:txBody>
      </p:sp>
      <p:sp>
        <p:nvSpPr>
          <p:cNvPr id="8" name="Shape 6"/>
          <p:cNvSpPr/>
          <p:nvPr/>
        </p:nvSpPr>
        <p:spPr>
          <a:xfrm>
            <a:off x="3495675" y="1989336"/>
            <a:ext cx="2520950" cy="2216051"/>
          </a:xfrm>
          <a:prstGeom prst="roundRect">
            <a:avLst>
              <a:gd name="adj" fmla="val 3295"/>
            </a:avLst>
          </a:prstGeom>
          <a:solidFill>
            <a:srgbClr val="FDFCF9"/>
          </a:solidFill>
          <a:ln w="6350">
            <a:solidFill>
              <a:srgbClr val="D9D4C7"/>
            </a:solidFill>
            <a:prstDash val="solid"/>
          </a:ln>
        </p:spPr>
      </p:sp>
      <p:sp>
        <p:nvSpPr>
          <p:cNvPr id="9" name="Text 7"/>
          <p:cNvSpPr/>
          <p:nvPr/>
        </p:nvSpPr>
        <p:spPr>
          <a:xfrm>
            <a:off x="3702050" y="21957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0"/>
                </a:solidFill>
                <a:latin typeface="Arial" pitchFamily="34" charset="0"/>
                <a:ea typeface="Arial" pitchFamily="34" charset="-122"/>
                <a:cs typeface="Arial" pitchFamily="34" charset="-120"/>
              </a:rPr>
              <a:t>DAYS 4–7</a:t>
            </a:r>
            <a:endParaRPr lang="en-US" sz="1200" dirty="0"/>
          </a:p>
        </p:txBody>
      </p:sp>
      <p:sp>
        <p:nvSpPr>
          <p:cNvPr id="10" name="Text 8"/>
          <p:cNvSpPr/>
          <p:nvPr/>
        </p:nvSpPr>
        <p:spPr>
          <a:xfrm>
            <a:off x="3702050" y="2510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Detect &amp; learn</a:t>
            </a:r>
            <a:endParaRPr lang="en-US" sz="1600" dirty="0"/>
          </a:p>
        </p:txBody>
      </p:sp>
      <p:sp>
        <p:nvSpPr>
          <p:cNvPr id="11" name="Text 9"/>
          <p:cNvSpPr/>
          <p:nvPr/>
        </p:nvSpPr>
        <p:spPr>
          <a:xfrm>
            <a:off x="3813556" y="2856012"/>
            <a:ext cx="2052320" cy="11684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AI Functions learn mappings</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MLV constraints, quarantine</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Measure AI accuracy</a:t>
            </a:r>
            <a:endParaRPr lang="en-US" sz="1200" dirty="0"/>
          </a:p>
        </p:txBody>
      </p:sp>
      <p:sp>
        <p:nvSpPr>
          <p:cNvPr id="12" name="Shape 10"/>
          <p:cNvSpPr/>
          <p:nvPr/>
        </p:nvSpPr>
        <p:spPr>
          <a:xfrm>
            <a:off x="6175375" y="1989336"/>
            <a:ext cx="2520950" cy="2216051"/>
          </a:xfrm>
          <a:prstGeom prst="roundRect">
            <a:avLst>
              <a:gd name="adj" fmla="val 3295"/>
            </a:avLst>
          </a:prstGeom>
          <a:solidFill>
            <a:srgbClr val="FDFCF9"/>
          </a:solidFill>
          <a:ln w="6350">
            <a:solidFill>
              <a:srgbClr val="D9D4C7"/>
            </a:solidFill>
            <a:prstDash val="solid"/>
          </a:ln>
        </p:spPr>
      </p:sp>
      <p:sp>
        <p:nvSpPr>
          <p:cNvPr id="13" name="Text 11"/>
          <p:cNvSpPr/>
          <p:nvPr/>
        </p:nvSpPr>
        <p:spPr>
          <a:xfrm>
            <a:off x="6381750" y="21957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0"/>
                </a:solidFill>
                <a:latin typeface="Arial" pitchFamily="34" charset="0"/>
                <a:ea typeface="Arial" pitchFamily="34" charset="-122"/>
                <a:cs typeface="Arial" pitchFamily="34" charset="-120"/>
              </a:rPr>
              <a:t>DAYS 8–11</a:t>
            </a:r>
            <a:endParaRPr lang="en-US" sz="1200" dirty="0"/>
          </a:p>
        </p:txBody>
      </p:sp>
      <p:sp>
        <p:nvSpPr>
          <p:cNvPr id="14" name="Text 12"/>
          <p:cNvSpPr/>
          <p:nvPr/>
        </p:nvSpPr>
        <p:spPr>
          <a:xfrm>
            <a:off x="6381750" y="2510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Resolve &amp; steward</a:t>
            </a:r>
            <a:endParaRPr lang="en-US" sz="1600" dirty="0"/>
          </a:p>
        </p:txBody>
      </p:sp>
      <p:sp>
        <p:nvSpPr>
          <p:cNvPr id="15" name="Text 13"/>
          <p:cNvSpPr/>
          <p:nvPr/>
        </p:nvSpPr>
        <p:spPr>
          <a:xfrm>
            <a:off x="6493256" y="2856012"/>
            <a:ext cx="2052320" cy="7112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Golden records in Fabric</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Translytical pattern queue</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Activator per-source alerts</a:t>
            </a:r>
            <a:endParaRPr lang="en-US" sz="1200" dirty="0"/>
          </a:p>
        </p:txBody>
      </p:sp>
      <p:sp>
        <p:nvSpPr>
          <p:cNvPr id="16" name="Shape 14"/>
          <p:cNvSpPr/>
          <p:nvPr/>
        </p:nvSpPr>
        <p:spPr>
          <a:xfrm>
            <a:off x="8855075" y="1989336"/>
            <a:ext cx="2520950" cy="2216051"/>
          </a:xfrm>
          <a:prstGeom prst="roundRect">
            <a:avLst>
              <a:gd name="adj" fmla="val 3295"/>
            </a:avLst>
          </a:prstGeom>
          <a:solidFill>
            <a:srgbClr val="FDFCF9"/>
          </a:solidFill>
          <a:ln w="6350">
            <a:solidFill>
              <a:srgbClr val="D9D4C7"/>
            </a:solidFill>
            <a:prstDash val="solid"/>
          </a:ln>
        </p:spPr>
      </p:sp>
      <p:sp>
        <p:nvSpPr>
          <p:cNvPr id="17" name="Text 15"/>
          <p:cNvSpPr/>
          <p:nvPr/>
        </p:nvSpPr>
        <p:spPr>
          <a:xfrm>
            <a:off x="9061450" y="21957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F0A"/>
                </a:solidFill>
                <a:latin typeface="Arial" pitchFamily="34" charset="0"/>
                <a:ea typeface="Arial" pitchFamily="34" charset="-122"/>
                <a:cs typeface="Arial" pitchFamily="34" charset="-120"/>
              </a:rPr>
              <a:t>DAYS 12–14</a:t>
            </a:r>
            <a:endParaRPr lang="en-US" sz="1200" dirty="0"/>
          </a:p>
        </p:txBody>
      </p:sp>
      <p:sp>
        <p:nvSpPr>
          <p:cNvPr id="18" name="Text 16"/>
          <p:cNvSpPr/>
          <p:nvPr/>
        </p:nvSpPr>
        <p:spPr>
          <a:xfrm>
            <a:off x="9061450" y="2510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Arial" pitchFamily="34" charset="0"/>
                <a:ea typeface="Arial" pitchFamily="34" charset="-122"/>
                <a:cs typeface="Arial" pitchFamily="34" charset="-120"/>
              </a:rPr>
              <a:t>Prove &amp; demo</a:t>
            </a:r>
            <a:endParaRPr lang="en-US" sz="1600" dirty="0"/>
          </a:p>
        </p:txBody>
      </p:sp>
      <p:sp>
        <p:nvSpPr>
          <p:cNvPr id="19" name="Text 17"/>
          <p:cNvSpPr/>
          <p:nvPr/>
        </p:nvSpPr>
        <p:spPr>
          <a:xfrm>
            <a:off x="9172956" y="2856012"/>
            <a:ext cx="2052320" cy="93980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Certified spend report</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Ablation rerun on Fabric</a:t>
            </a:r>
            <a:endParaRPr lang="en-US" sz="1200" dirty="0"/>
          </a:p>
          <a:p>
            <a:pPr algn="l" marL="142494" indent="-142494">
              <a:lnSpc>
                <a:spcPts val="1800"/>
              </a:lnSpc>
              <a:buSzPct val="100000"/>
              <a:buChar char="•"/>
            </a:pPr>
            <a:r>
              <a:rPr lang="en-US" sz="1200" dirty="0">
                <a:solidFill>
                  <a:srgbClr val="4A5263"/>
                </a:solidFill>
                <a:latin typeface="Arial" pitchFamily="34" charset="0"/>
                <a:ea typeface="Arial" pitchFamily="34" charset="-122"/>
                <a:cs typeface="Arial" pitchFamily="34" charset="-120"/>
              </a:rPr>
              <a:t>Rehearse break-it scenarios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B84A"/>
                </a:solidFill>
                <a:latin typeface="Arial" pitchFamily="34" charset="0"/>
                <a:ea typeface="Arial" pitchFamily="34" charset="-122"/>
                <a:cs typeface="Arial" pitchFamily="34" charset="-120"/>
              </a:rPr>
              <a:t>GOLDENRECORD</a:t>
            </a:r>
            <a:endParaRPr lang="en-US" sz="1200" dirty="0"/>
          </a:p>
        </p:txBody>
      </p:sp>
      <p:sp>
        <p:nvSpPr>
          <p:cNvPr id="3" name="Text 1"/>
          <p:cNvSpPr/>
          <p:nvPr>
            <p:ph type="title"/>
          </p:nvPr>
        </p:nvSpPr>
        <p:spPr>
          <a:xfrm>
            <a:off x="812800" y="234573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6F4EE"/>
                </a:solidFill>
                <a:latin typeface="Arial" pitchFamily="34" charset="0"/>
                <a:ea typeface="Arial" pitchFamily="34" charset="-122"/>
                <a:cs typeface="Arial" pitchFamily="34" charset="-120"/>
              </a:rPr>
              <a:t>Fabric finds it. </a:t>
            </a:r>
            <a:r>
              <a:rPr lang="en-US" sz="6000" b="1" i="0" spc="-100" kern="0" dirty="0">
                <a:solidFill>
                  <a:srgbClr val="E8B84A"/>
                </a:solidFill>
                <a:latin typeface="Arial" pitchFamily="34" charset="0"/>
                <a:ea typeface="Arial" pitchFamily="34" charset="-122"/>
                <a:cs typeface="Arial" pitchFamily="34" charset="-120"/>
              </a:rPr>
              <a:t>GoldenRecord fixes it.</a:t>
            </a:r>
            <a:endParaRPr lang="en-US" sz="6000" dirty="0"/>
          </a:p>
        </p:txBody>
      </p:sp>
      <p:sp>
        <p:nvSpPr>
          <p:cNvPr id="4" name="Text 2"/>
          <p:cNvSpPr/>
          <p:nvPr/>
        </p:nvSpPr>
        <p:spPr>
          <a:xfrm>
            <a:off x="812800" y="414913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DE"/>
                </a:solidFill>
                <a:latin typeface="Arial" pitchFamily="34" charset="0"/>
                <a:ea typeface="Arial" pitchFamily="34" charset="-122"/>
                <a:cs typeface="Arial" pitchFamily="34" charset="-120"/>
              </a:rPr>
              <a:t>Thank you. Questions?</a:t>
            </a:r>
            <a:endParaRPr lang="en-US" sz="22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Arial" pitchFamily="34" charset="0"/>
                <a:ea typeface="Arial" pitchFamily="34" charset="-122"/>
                <a:cs typeface="Arial" pitchFamily="34" charset="-120"/>
              </a:rPr>
              <a:t>Team GoldenRecord · Track 02 · GenAI Data Harmonization &amp; Quality Guardrails</a:t>
            </a:r>
            <a:endParaRPr lang="en-US" sz="1200" dirty="0"/>
          </a:p>
        </p:txBody>
      </p:sp>
    </p:spTree>
  </p:cSld>
  <p:clrMapOvr>
    <a:masterClrMapping/>
  </p:clrMapOvr>
</p:sld>
</file>

<file path=ppt/theme/theme1.xml><?xml version="1.0" encoding="utf-8"?>
<a:theme xmlns:a="http://schemas.openxmlformats.org/drawingml/2006/main" name="GoldenRecord – AI Data Quality Gatekeeper">
  <a:themeElements>
    <a:clrScheme name="GoldenRecord – AI Data Quality Gatekeeper">
      <a:dk1>
        <a:srgbClr val="0F1B2D"/>
      </a:dk1>
      <a:lt1>
        <a:srgbClr val="F6F4EE"/>
      </a:lt1>
      <a:dk2>
        <a:srgbClr val="49515D"/>
      </a:dk2>
      <a:lt2>
        <a:srgbClr val="DFDEDB"/>
      </a:lt2>
      <a:accent1>
        <a:srgbClr val="8A5F00"/>
      </a:accent1>
      <a:accent2>
        <a:srgbClr val="E8B84A"/>
      </a:accent2>
      <a:accent3>
        <a:srgbClr val="1F4E80"/>
      </a:accent3>
      <a:accent4>
        <a:srgbClr val="8A3F0A"/>
      </a:accent4>
      <a:accent5>
        <a:srgbClr val="1F3550"/>
      </a:accent5>
      <a:accent6>
        <a:srgbClr val="5A2E0E"/>
      </a:accent6>
      <a:hlink>
        <a:srgbClr val="0563C1"/>
      </a:hlink>
      <a:folHlink>
        <a:srgbClr val="954F72"/>
      </a:folHlink>
    </a:clrScheme>
    <a:fontScheme name="GoldenRecord – AI Data Quality Gatekeep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GoldenRecord – AI Data Quality Gatekeeper</dc:title>
  <dc:subject/>
  <dc:creator/>
  <cp:lastModifiedBy/>
  <cp:revision>1</cp:revision>
  <dcterms:created xsi:type="dcterms:W3CDTF">2026-10-09T14:17:34Z</dcterms:created>
  <dcterms:modified xsi:type="dcterms:W3CDTF">2026-10-09T14:17:34Z</dcterms:modified>
</cp:coreProperties>
</file>